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66600" cy="6781800"/>
  <p:notesSz cx="6858000" cy="9144000"/>
  <p:embeddedFontLst>
    <p:embeddedFont>
      <p:font typeface="Times New Roman Bold" panose="02020803070505020304" pitchFamily="18" charset="0"/>
      <p:regular r:id="rId4"/>
      <p:bold r:id="rId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 autoAdjust="0"/>
    <p:restoredTop sz="94156" autoAdjust="0"/>
  </p:normalViewPr>
  <p:slideViewPr>
    <p:cSldViewPr>
      <p:cViewPr>
        <p:scale>
          <a:sx n="90" d="100"/>
          <a:sy n="90" d="100"/>
        </p:scale>
        <p:origin x="696" y="-46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font" Target="fonts/font2.fntdata"/><Relationship Id="rId4" Type="http://schemas.openxmlformats.org/officeDocument/2006/relationships/font" Target="fonts/font1.fntdata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E6E286-DA27-A14C-8237-34C11780D5E8}" type="datetimeFigureOut">
              <a:rPr kumimoji="1" lang="zh-TW" altLang="en-US" smtClean="0"/>
              <a:t>2026/8/9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61988" y="1143000"/>
            <a:ext cx="55340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81CB28-A13A-D44D-9D7A-F0D918AEDFC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88017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81CB28-A13A-D44D-9D7A-F0D918AEDFCB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01721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09653" y="747027"/>
            <a:ext cx="1827667" cy="2081508"/>
            <a:chOff x="0" y="0"/>
            <a:chExt cx="2436889" cy="2775344"/>
          </a:xfrm>
        </p:grpSpPr>
        <p:sp>
          <p:nvSpPr>
            <p:cNvPr id="3" name="Freeform 3" descr="gmc_frames_exact_crop.png"/>
            <p:cNvSpPr/>
            <p:nvPr/>
          </p:nvSpPr>
          <p:spPr>
            <a:xfrm>
              <a:off x="0" y="0"/>
              <a:ext cx="2436876" cy="2775331"/>
            </a:xfrm>
            <a:custGeom>
              <a:avLst/>
              <a:gdLst/>
              <a:ahLst/>
              <a:cxnLst/>
              <a:rect l="l" t="t" r="r" b="b"/>
              <a:pathLst>
                <a:path w="2436876" h="2775331">
                  <a:moveTo>
                    <a:pt x="0" y="0"/>
                  </a:moveTo>
                  <a:lnTo>
                    <a:pt x="2436876" y="0"/>
                  </a:lnTo>
                  <a:lnTo>
                    <a:pt x="2436876" y="2775331"/>
                  </a:lnTo>
                  <a:lnTo>
                    <a:pt x="0" y="2775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261958" y="326365"/>
            <a:ext cx="2020413" cy="371318"/>
            <a:chOff x="0" y="0"/>
            <a:chExt cx="2693884" cy="49509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17548" cy="338456"/>
            </a:xfrm>
            <a:custGeom>
              <a:avLst/>
              <a:gdLst/>
              <a:ahLst/>
              <a:cxnLst/>
              <a:rect l="l" t="t" r="r" b="b"/>
              <a:pathLst>
                <a:path w="2417548" h="338456">
                  <a:moveTo>
                    <a:pt x="0" y="0"/>
                  </a:moveTo>
                  <a:lnTo>
                    <a:pt x="2417548" y="0"/>
                  </a:lnTo>
                  <a:lnTo>
                    <a:pt x="2417548" y="338456"/>
                  </a:lnTo>
                  <a:lnTo>
                    <a:pt x="0" y="3384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89179" b="-89178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276337" y="137587"/>
              <a:ext cx="2417547" cy="35750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20"/>
                </a:lnSpc>
              </a:pPr>
              <a:r>
                <a:rPr lang="en-US" sz="1600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Video Frames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5494992" y="1080302"/>
            <a:ext cx="1232945" cy="290798"/>
            <a:chOff x="0" y="0"/>
            <a:chExt cx="1643926" cy="38773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643932" cy="387729"/>
            </a:xfrm>
            <a:custGeom>
              <a:avLst/>
              <a:gdLst/>
              <a:ahLst/>
              <a:cxnLst/>
              <a:rect l="l" t="t" r="r" b="b"/>
              <a:pathLst>
                <a:path w="1643932" h="387729">
                  <a:moveTo>
                    <a:pt x="0" y="0"/>
                  </a:moveTo>
                  <a:lnTo>
                    <a:pt x="1643932" y="0"/>
                  </a:lnTo>
                  <a:lnTo>
                    <a:pt x="1643932" y="387729"/>
                  </a:lnTo>
                  <a:lnTo>
                    <a:pt x="0" y="38772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5203" b="-20025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1643926" cy="39725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399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Cosine similarity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69206" y="2969212"/>
            <a:ext cx="1565617" cy="487288"/>
            <a:chOff x="0" y="0"/>
            <a:chExt cx="2087489" cy="649717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087491" cy="649718"/>
            </a:xfrm>
            <a:custGeom>
              <a:avLst/>
              <a:gdLst/>
              <a:ahLst/>
              <a:cxnLst/>
              <a:rect l="l" t="t" r="r" b="b"/>
              <a:pathLst>
                <a:path w="2087491" h="649718">
                  <a:moveTo>
                    <a:pt x="0" y="0"/>
                  </a:moveTo>
                  <a:lnTo>
                    <a:pt x="2087491" y="0"/>
                  </a:lnTo>
                  <a:lnTo>
                    <a:pt x="2087491" y="649718"/>
                  </a:lnTo>
                  <a:lnTo>
                    <a:pt x="0" y="64971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9055" r="11983" b="18852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2087489" cy="65924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399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13D Motion Vector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40949" y="4233434"/>
            <a:ext cx="1378001" cy="253841"/>
            <a:chOff x="0" y="0"/>
            <a:chExt cx="1837334" cy="33845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837336" cy="338456"/>
            </a:xfrm>
            <a:custGeom>
              <a:avLst/>
              <a:gdLst/>
              <a:ahLst/>
              <a:cxnLst/>
              <a:rect l="l" t="t" r="r" b="b"/>
              <a:pathLst>
                <a:path w="1837336" h="338456">
                  <a:moveTo>
                    <a:pt x="0" y="0"/>
                  </a:moveTo>
                  <a:lnTo>
                    <a:pt x="1837336" y="0"/>
                  </a:lnTo>
                  <a:lnTo>
                    <a:pt x="1837336" y="338456"/>
                  </a:lnTo>
                  <a:lnTo>
                    <a:pt x="0" y="3384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5776" b="-55775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837334" cy="3479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399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384D Embeddings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84558" y="3009900"/>
            <a:ext cx="10817746" cy="3095618"/>
            <a:chOff x="-547069" y="0"/>
            <a:chExt cx="7236413" cy="3614293"/>
          </a:xfrm>
        </p:grpSpPr>
        <p:sp>
          <p:nvSpPr>
            <p:cNvPr id="17" name="Freeform 17"/>
            <p:cNvSpPr/>
            <p:nvPr/>
          </p:nvSpPr>
          <p:spPr>
            <a:xfrm>
              <a:off x="-547069" y="0"/>
              <a:ext cx="7236413" cy="3614293"/>
            </a:xfrm>
            <a:custGeom>
              <a:avLst/>
              <a:gdLst/>
              <a:ahLst/>
              <a:cxnLst/>
              <a:rect l="l" t="t" r="r" b="b"/>
              <a:pathLst>
                <a:path w="6689344" h="3614293">
                  <a:moveTo>
                    <a:pt x="0" y="0"/>
                  </a:moveTo>
                  <a:lnTo>
                    <a:pt x="6689344" y="0"/>
                  </a:lnTo>
                  <a:lnTo>
                    <a:pt x="6689344" y="3614293"/>
                  </a:lnTo>
                  <a:lnTo>
                    <a:pt x="0" y="3614293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9322" r="-19322" b="1"/>
              </a:stretch>
            </a:blipFill>
            <a:ln w="12700" cap="sq">
              <a:solidFill>
                <a:srgbClr val="000000"/>
              </a:solidFill>
              <a:prstDash val="dash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320029" y="3235114"/>
            <a:ext cx="1532893" cy="311572"/>
            <a:chOff x="0" y="0"/>
            <a:chExt cx="2043857" cy="41543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043858" cy="415426"/>
            </a:xfrm>
            <a:custGeom>
              <a:avLst/>
              <a:gdLst/>
              <a:ahLst/>
              <a:cxnLst/>
              <a:rect l="l" t="t" r="r" b="b"/>
              <a:pathLst>
                <a:path w="2043858" h="415426">
                  <a:moveTo>
                    <a:pt x="0" y="0"/>
                  </a:moveTo>
                  <a:lnTo>
                    <a:pt x="2043858" y="0"/>
                  </a:lnTo>
                  <a:lnTo>
                    <a:pt x="2043858" y="415426"/>
                  </a:lnTo>
                  <a:lnTo>
                    <a:pt x="0" y="41542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8933" r="10104" b="-23422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19050"/>
              <a:ext cx="2043857" cy="4344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560"/>
                </a:lnSpc>
              </a:pPr>
              <a:r>
                <a:rPr lang="en-US" sz="1400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256D Motion Vector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320029" y="4277307"/>
            <a:ext cx="1407907" cy="364904"/>
            <a:chOff x="0" y="0"/>
            <a:chExt cx="1877210" cy="48653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877212" cy="486534"/>
            </a:xfrm>
            <a:custGeom>
              <a:avLst/>
              <a:gdLst/>
              <a:ahLst/>
              <a:cxnLst/>
              <a:rect l="l" t="t" r="r" b="b"/>
              <a:pathLst>
                <a:path w="1877212" h="486534">
                  <a:moveTo>
                    <a:pt x="0" y="0"/>
                  </a:moveTo>
                  <a:lnTo>
                    <a:pt x="1877212" y="0"/>
                  </a:lnTo>
                  <a:lnTo>
                    <a:pt x="1877212" y="486534"/>
                  </a:lnTo>
                  <a:lnTo>
                    <a:pt x="0" y="48653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1781" r="2124" b="-5384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19050"/>
              <a:ext cx="1877210" cy="50558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560"/>
                </a:lnSpc>
              </a:pPr>
              <a:r>
                <a:rPr lang="en-US" sz="1400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256D Motion Vector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812186" y="3456500"/>
            <a:ext cx="1622554" cy="359582"/>
            <a:chOff x="0" y="0"/>
            <a:chExt cx="2163405" cy="47944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163407" cy="479438"/>
            </a:xfrm>
            <a:custGeom>
              <a:avLst/>
              <a:gdLst/>
              <a:ahLst/>
              <a:cxnLst/>
              <a:rect l="l" t="t" r="r" b="b"/>
              <a:pathLst>
                <a:path w="2163407" h="479438">
                  <a:moveTo>
                    <a:pt x="0" y="0"/>
                  </a:moveTo>
                  <a:lnTo>
                    <a:pt x="2163407" y="0"/>
                  </a:lnTo>
                  <a:lnTo>
                    <a:pt x="2163407" y="479438"/>
                  </a:lnTo>
                  <a:lnTo>
                    <a:pt x="0" y="47943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2399" r="15072" b="-6943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19050"/>
              <a:ext cx="2163405" cy="4984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560"/>
                </a:lnSpc>
              </a:pPr>
              <a:r>
                <a:rPr lang="en-US" sz="130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256D Motion Vector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8911911" y="4449785"/>
            <a:ext cx="1423105" cy="325440"/>
            <a:chOff x="0" y="0"/>
            <a:chExt cx="1897473" cy="43392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897475" cy="433916"/>
            </a:xfrm>
            <a:custGeom>
              <a:avLst/>
              <a:gdLst/>
              <a:ahLst/>
              <a:cxnLst/>
              <a:rect l="l" t="t" r="r" b="b"/>
              <a:pathLst>
                <a:path w="1897475" h="433916">
                  <a:moveTo>
                    <a:pt x="0" y="0"/>
                  </a:moveTo>
                  <a:lnTo>
                    <a:pt x="1897475" y="0"/>
                  </a:lnTo>
                  <a:lnTo>
                    <a:pt x="1897475" y="433916"/>
                  </a:lnTo>
                  <a:lnTo>
                    <a:pt x="0" y="4339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6848" r="3169" b="-18163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19050"/>
              <a:ext cx="1897473" cy="4529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560"/>
                </a:lnSpc>
              </a:pPr>
              <a:r>
                <a:rPr lang="en-US" sz="130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256D Motion Vector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3909441" y="1073658"/>
            <a:ext cx="1043845" cy="1043845"/>
            <a:chOff x="0" y="0"/>
            <a:chExt cx="1391793" cy="1391793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391793" cy="1391793"/>
            </a:xfrm>
            <a:custGeom>
              <a:avLst/>
              <a:gdLst/>
              <a:ahLst/>
              <a:cxnLst/>
              <a:rect l="l" t="t" r="r" b="b"/>
              <a:pathLst>
                <a:path w="1391793" h="1391793">
                  <a:moveTo>
                    <a:pt x="0" y="232029"/>
                  </a:moveTo>
                  <a:cubicBezTo>
                    <a:pt x="0" y="103886"/>
                    <a:pt x="103886" y="0"/>
                    <a:pt x="232029" y="0"/>
                  </a:cubicBezTo>
                  <a:lnTo>
                    <a:pt x="1159764" y="0"/>
                  </a:lnTo>
                  <a:cubicBezTo>
                    <a:pt x="1287907" y="0"/>
                    <a:pt x="1391793" y="103886"/>
                    <a:pt x="1391793" y="232029"/>
                  </a:cubicBezTo>
                  <a:lnTo>
                    <a:pt x="1391793" y="1159764"/>
                  </a:lnTo>
                  <a:cubicBezTo>
                    <a:pt x="1391793" y="1287907"/>
                    <a:pt x="1287907" y="1391793"/>
                    <a:pt x="1159764" y="1391793"/>
                  </a:cubicBezTo>
                  <a:lnTo>
                    <a:pt x="232029" y="1391793"/>
                  </a:lnTo>
                  <a:cubicBezTo>
                    <a:pt x="103886" y="1391793"/>
                    <a:pt x="0" y="1287907"/>
                    <a:pt x="0" y="1159764"/>
                  </a:cubicBezTo>
                  <a:close/>
                </a:path>
              </a:pathLst>
            </a:custGeom>
            <a:solidFill>
              <a:srgbClr val="EFF4FA"/>
            </a:solidFill>
            <a:ln w="13970" cap="sq">
              <a:solidFill>
                <a:srgbClr val="374E6C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19050"/>
              <a:ext cx="1391793" cy="14108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20"/>
                </a:lnSpc>
              </a:pPr>
              <a:r>
                <a:rPr lang="en-US" sz="1600" dirty="0" err="1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iKUN</a:t>
              </a:r>
              <a:endParaRPr lang="en-US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algn="ctr">
                <a:lnSpc>
                  <a:spcPts val="1920"/>
                </a:lnSpc>
              </a:pPr>
              <a:r>
                <a:rPr lang="en-US" sz="1600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Model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3619338" y="3306189"/>
            <a:ext cx="1138133" cy="739235"/>
            <a:chOff x="0" y="0"/>
            <a:chExt cx="1517510" cy="985647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517650" cy="985647"/>
            </a:xfrm>
            <a:custGeom>
              <a:avLst/>
              <a:gdLst/>
              <a:ahLst/>
              <a:cxnLst/>
              <a:rect l="l" t="t" r="r" b="b"/>
              <a:pathLst>
                <a:path w="1517650" h="985647">
                  <a:moveTo>
                    <a:pt x="0" y="164338"/>
                  </a:moveTo>
                  <a:cubicBezTo>
                    <a:pt x="0" y="73533"/>
                    <a:pt x="73533" y="0"/>
                    <a:pt x="164338" y="0"/>
                  </a:cubicBezTo>
                  <a:lnTo>
                    <a:pt x="1353312" y="0"/>
                  </a:lnTo>
                  <a:cubicBezTo>
                    <a:pt x="1443990" y="0"/>
                    <a:pt x="1517650" y="73533"/>
                    <a:pt x="1517650" y="164338"/>
                  </a:cubicBezTo>
                  <a:lnTo>
                    <a:pt x="1517650" y="821309"/>
                  </a:lnTo>
                  <a:cubicBezTo>
                    <a:pt x="1517650" y="911987"/>
                    <a:pt x="1444117" y="985647"/>
                    <a:pt x="1353312" y="985647"/>
                  </a:cubicBezTo>
                  <a:lnTo>
                    <a:pt x="164338" y="985647"/>
                  </a:lnTo>
                  <a:cubicBezTo>
                    <a:pt x="73533" y="985647"/>
                    <a:pt x="0" y="912114"/>
                    <a:pt x="0" y="821309"/>
                  </a:cubicBezTo>
                  <a:close/>
                </a:path>
              </a:pathLst>
            </a:custGeom>
            <a:solidFill>
              <a:srgbClr val="EFF4FA"/>
            </a:solidFill>
            <a:ln w="13970" cap="sq">
              <a:solidFill>
                <a:srgbClr val="374E6C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1517510" cy="9951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399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Motion</a:t>
              </a:r>
            </a:p>
            <a:p>
              <a:pPr algn="ctr">
                <a:lnSpc>
                  <a:spcPts val="1679"/>
                </a:lnSpc>
              </a:pPr>
              <a:r>
                <a:rPr lang="en-US" sz="1399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Projector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3619338" y="4449785"/>
            <a:ext cx="1138133" cy="739235"/>
            <a:chOff x="0" y="0"/>
            <a:chExt cx="1517510" cy="985647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517650" cy="985647"/>
            </a:xfrm>
            <a:custGeom>
              <a:avLst/>
              <a:gdLst/>
              <a:ahLst/>
              <a:cxnLst/>
              <a:rect l="l" t="t" r="r" b="b"/>
              <a:pathLst>
                <a:path w="1517650" h="985647">
                  <a:moveTo>
                    <a:pt x="0" y="164338"/>
                  </a:moveTo>
                  <a:cubicBezTo>
                    <a:pt x="0" y="73533"/>
                    <a:pt x="73533" y="0"/>
                    <a:pt x="164338" y="0"/>
                  </a:cubicBezTo>
                  <a:lnTo>
                    <a:pt x="1353312" y="0"/>
                  </a:lnTo>
                  <a:cubicBezTo>
                    <a:pt x="1443990" y="0"/>
                    <a:pt x="1517650" y="73533"/>
                    <a:pt x="1517650" y="164338"/>
                  </a:cubicBezTo>
                  <a:lnTo>
                    <a:pt x="1517650" y="821309"/>
                  </a:lnTo>
                  <a:cubicBezTo>
                    <a:pt x="1517650" y="911987"/>
                    <a:pt x="1444117" y="985647"/>
                    <a:pt x="1353312" y="985647"/>
                  </a:cubicBezTo>
                  <a:lnTo>
                    <a:pt x="164338" y="985647"/>
                  </a:lnTo>
                  <a:cubicBezTo>
                    <a:pt x="73533" y="985647"/>
                    <a:pt x="0" y="912114"/>
                    <a:pt x="0" y="821309"/>
                  </a:cubicBezTo>
                  <a:close/>
                </a:path>
              </a:pathLst>
            </a:custGeom>
            <a:solidFill>
              <a:srgbClr val="EFF4FA"/>
            </a:solidFill>
            <a:ln w="13970" cap="sq">
              <a:solidFill>
                <a:srgbClr val="374E6C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1517510" cy="9951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399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Language</a:t>
              </a:r>
            </a:p>
            <a:p>
              <a:pPr algn="ctr">
                <a:lnSpc>
                  <a:spcPts val="1679"/>
                </a:lnSpc>
              </a:pPr>
              <a:r>
                <a:rPr lang="en-US" sz="1399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Projector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971181" y="3390900"/>
            <a:ext cx="1138133" cy="1798120"/>
            <a:chOff x="0" y="0"/>
            <a:chExt cx="1517510" cy="2397493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517523" cy="2397506"/>
            </a:xfrm>
            <a:custGeom>
              <a:avLst/>
              <a:gdLst/>
              <a:ahLst/>
              <a:cxnLst/>
              <a:rect l="l" t="t" r="r" b="b"/>
              <a:pathLst>
                <a:path w="1517523" h="2397506">
                  <a:moveTo>
                    <a:pt x="0" y="252984"/>
                  </a:moveTo>
                  <a:cubicBezTo>
                    <a:pt x="0" y="113284"/>
                    <a:pt x="113284" y="0"/>
                    <a:pt x="252984" y="0"/>
                  </a:cubicBezTo>
                  <a:lnTo>
                    <a:pt x="1264539" y="0"/>
                  </a:lnTo>
                  <a:cubicBezTo>
                    <a:pt x="1404239" y="0"/>
                    <a:pt x="1517523" y="113284"/>
                    <a:pt x="1517523" y="252984"/>
                  </a:cubicBezTo>
                  <a:lnTo>
                    <a:pt x="1517523" y="2144522"/>
                  </a:lnTo>
                  <a:cubicBezTo>
                    <a:pt x="1517523" y="2284222"/>
                    <a:pt x="1404239" y="2397506"/>
                    <a:pt x="1264539" y="2397506"/>
                  </a:cubicBezTo>
                  <a:lnTo>
                    <a:pt x="252984" y="2397506"/>
                  </a:lnTo>
                  <a:cubicBezTo>
                    <a:pt x="113284" y="2397506"/>
                    <a:pt x="0" y="2284222"/>
                    <a:pt x="0" y="2144522"/>
                  </a:cubicBezTo>
                  <a:close/>
                </a:path>
              </a:pathLst>
            </a:custGeom>
            <a:solidFill>
              <a:srgbClr val="EFF4FA"/>
            </a:solidFill>
            <a:ln w="13970" cap="sq">
              <a:solidFill>
                <a:srgbClr val="374E6C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9525"/>
              <a:ext cx="1517510" cy="2407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399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Shared Weight</a:t>
              </a:r>
            </a:p>
            <a:p>
              <a:pPr algn="ctr">
                <a:lnSpc>
                  <a:spcPts val="1679"/>
                </a:lnSpc>
              </a:pPr>
              <a:r>
                <a:rPr lang="en-US" sz="1399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MLP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588599" y="5229425"/>
            <a:ext cx="898789" cy="615944"/>
            <a:chOff x="0" y="0"/>
            <a:chExt cx="1198385" cy="821258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198372" cy="821309"/>
            </a:xfrm>
            <a:custGeom>
              <a:avLst/>
              <a:gdLst/>
              <a:ahLst/>
              <a:cxnLst/>
              <a:rect l="l" t="t" r="r" b="b"/>
              <a:pathLst>
                <a:path w="1198372" h="821309">
                  <a:moveTo>
                    <a:pt x="0" y="136906"/>
                  </a:moveTo>
                  <a:cubicBezTo>
                    <a:pt x="0" y="61341"/>
                    <a:pt x="61341" y="0"/>
                    <a:pt x="136906" y="0"/>
                  </a:cubicBezTo>
                  <a:lnTo>
                    <a:pt x="1061466" y="0"/>
                  </a:lnTo>
                  <a:cubicBezTo>
                    <a:pt x="1137031" y="0"/>
                    <a:pt x="1198372" y="61341"/>
                    <a:pt x="1198372" y="136906"/>
                  </a:cubicBezTo>
                  <a:lnTo>
                    <a:pt x="1198372" y="684403"/>
                  </a:lnTo>
                  <a:cubicBezTo>
                    <a:pt x="1198372" y="759968"/>
                    <a:pt x="1137031" y="821309"/>
                    <a:pt x="1061466" y="821309"/>
                  </a:cubicBezTo>
                  <a:lnTo>
                    <a:pt x="136906" y="821309"/>
                  </a:lnTo>
                  <a:cubicBezTo>
                    <a:pt x="61341" y="821309"/>
                    <a:pt x="0" y="759968"/>
                    <a:pt x="0" y="684403"/>
                  </a:cubicBezTo>
                  <a:close/>
                </a:path>
              </a:pathLst>
            </a:custGeom>
            <a:solidFill>
              <a:srgbClr val="EEF6EB"/>
            </a:solidFill>
            <a:ln w="13970" cap="sq">
              <a:solidFill>
                <a:srgbClr val="467337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9525"/>
              <a:ext cx="1198385" cy="8307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399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Text</a:t>
              </a:r>
            </a:p>
            <a:p>
              <a:pPr algn="ctr">
                <a:lnSpc>
                  <a:spcPts val="1679"/>
                </a:lnSpc>
              </a:pPr>
              <a:r>
                <a:rPr lang="en-US" sz="1399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Encoder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10897367" y="3862321"/>
            <a:ext cx="1065600" cy="855278"/>
            <a:chOff x="0" y="0"/>
            <a:chExt cx="1420800" cy="1140371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420876" cy="1140460"/>
            </a:xfrm>
            <a:custGeom>
              <a:avLst/>
              <a:gdLst/>
              <a:ahLst/>
              <a:cxnLst/>
              <a:rect l="l" t="t" r="r" b="b"/>
              <a:pathLst>
                <a:path w="1420876" h="1140460">
                  <a:moveTo>
                    <a:pt x="0" y="190119"/>
                  </a:moveTo>
                  <a:cubicBezTo>
                    <a:pt x="0" y="85090"/>
                    <a:pt x="85090" y="0"/>
                    <a:pt x="190119" y="0"/>
                  </a:cubicBezTo>
                  <a:lnTo>
                    <a:pt x="1230757" y="0"/>
                  </a:lnTo>
                  <a:cubicBezTo>
                    <a:pt x="1335786" y="0"/>
                    <a:pt x="1420876" y="85090"/>
                    <a:pt x="1420876" y="190119"/>
                  </a:cubicBezTo>
                  <a:lnTo>
                    <a:pt x="1420876" y="950341"/>
                  </a:lnTo>
                  <a:cubicBezTo>
                    <a:pt x="1420876" y="1055370"/>
                    <a:pt x="1335786" y="1140460"/>
                    <a:pt x="1230757" y="1140460"/>
                  </a:cubicBezTo>
                  <a:lnTo>
                    <a:pt x="190119" y="1140460"/>
                  </a:lnTo>
                  <a:cubicBezTo>
                    <a:pt x="85090" y="1140333"/>
                    <a:pt x="0" y="1055243"/>
                    <a:pt x="0" y="950341"/>
                  </a:cubicBezTo>
                  <a:close/>
                </a:path>
              </a:pathLst>
            </a:custGeom>
            <a:solidFill>
              <a:srgbClr val="FCF4E7"/>
            </a:solidFill>
            <a:ln w="13970" cap="sq">
              <a:solidFill>
                <a:srgbClr val="64523C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-9525"/>
              <a:ext cx="1420800" cy="11498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399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Cosine</a:t>
              </a:r>
            </a:p>
            <a:p>
              <a:pPr algn="ctr">
                <a:lnSpc>
                  <a:spcPts val="1679"/>
                </a:lnSpc>
              </a:pPr>
              <a:r>
                <a:rPr lang="en-US" sz="1399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Similarity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688559" y="1438513"/>
            <a:ext cx="923354" cy="285121"/>
            <a:chOff x="0" y="0"/>
            <a:chExt cx="1231138" cy="380162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1231138" cy="380111"/>
            </a:xfrm>
            <a:custGeom>
              <a:avLst/>
              <a:gdLst/>
              <a:ahLst/>
              <a:cxnLst/>
              <a:rect l="l" t="t" r="r" b="b"/>
              <a:pathLst>
                <a:path w="1231138" h="380111">
                  <a:moveTo>
                    <a:pt x="0" y="0"/>
                  </a:moveTo>
                  <a:lnTo>
                    <a:pt x="1231138" y="0"/>
                  </a:lnTo>
                  <a:lnTo>
                    <a:pt x="1231138" y="380111"/>
                  </a:lnTo>
                  <a:lnTo>
                    <a:pt x="0" y="380111"/>
                  </a:lnTo>
                  <a:close/>
                </a:path>
              </a:pathLst>
            </a:custGeom>
            <a:solidFill>
              <a:srgbClr val="FCF4E7"/>
            </a:solidFill>
            <a:ln w="9525" cap="sq">
              <a:solidFill>
                <a:srgbClr val="695C49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6486354" y="1438513"/>
            <a:ext cx="125568" cy="285121"/>
            <a:chOff x="0" y="0"/>
            <a:chExt cx="167424" cy="380162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167386" cy="380111"/>
            </a:xfrm>
            <a:custGeom>
              <a:avLst/>
              <a:gdLst/>
              <a:ahLst/>
              <a:cxnLst/>
              <a:rect l="l" t="t" r="r" b="b"/>
              <a:pathLst>
                <a:path w="167386" h="380111">
                  <a:moveTo>
                    <a:pt x="0" y="0"/>
                  </a:moveTo>
                  <a:lnTo>
                    <a:pt x="167386" y="0"/>
                  </a:lnTo>
                  <a:lnTo>
                    <a:pt x="167386" y="380111"/>
                  </a:lnTo>
                  <a:lnTo>
                    <a:pt x="0" y="380111"/>
                  </a:lnTo>
                  <a:close/>
                </a:path>
              </a:pathLst>
            </a:custGeom>
            <a:solidFill>
              <a:srgbClr val="FCF4E7"/>
            </a:solidFill>
            <a:ln w="9525" cap="sq">
              <a:solidFill>
                <a:srgbClr val="695C49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547298" y="3520021"/>
            <a:ext cx="821817" cy="285121"/>
            <a:chOff x="0" y="0"/>
            <a:chExt cx="1095756" cy="38016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1095756" cy="380111"/>
            </a:xfrm>
            <a:custGeom>
              <a:avLst/>
              <a:gdLst/>
              <a:ahLst/>
              <a:cxnLst/>
              <a:rect l="l" t="t" r="r" b="b"/>
              <a:pathLst>
                <a:path w="1095756" h="380111">
                  <a:moveTo>
                    <a:pt x="0" y="0"/>
                  </a:moveTo>
                  <a:lnTo>
                    <a:pt x="1095756" y="0"/>
                  </a:lnTo>
                  <a:lnTo>
                    <a:pt x="1095756" y="380111"/>
                  </a:lnTo>
                  <a:lnTo>
                    <a:pt x="0" y="380111"/>
                  </a:lnTo>
                  <a:close/>
                </a:path>
              </a:pathLst>
            </a:custGeom>
            <a:solidFill>
              <a:srgbClr val="FCF4E7"/>
            </a:solidFill>
            <a:ln w="9525" cap="sq">
              <a:solidFill>
                <a:srgbClr val="695C49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2243557" y="3520021"/>
            <a:ext cx="125568" cy="285121"/>
            <a:chOff x="0" y="0"/>
            <a:chExt cx="167424" cy="380162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167386" cy="380111"/>
            </a:xfrm>
            <a:custGeom>
              <a:avLst/>
              <a:gdLst/>
              <a:ahLst/>
              <a:cxnLst/>
              <a:rect l="l" t="t" r="r" b="b"/>
              <a:pathLst>
                <a:path w="167386" h="380111">
                  <a:moveTo>
                    <a:pt x="0" y="0"/>
                  </a:moveTo>
                  <a:lnTo>
                    <a:pt x="167386" y="0"/>
                  </a:lnTo>
                  <a:lnTo>
                    <a:pt x="167386" y="380111"/>
                  </a:lnTo>
                  <a:lnTo>
                    <a:pt x="0" y="380111"/>
                  </a:lnTo>
                  <a:close/>
                </a:path>
              </a:pathLst>
            </a:custGeom>
            <a:solidFill>
              <a:srgbClr val="FCF4E7"/>
            </a:solidFill>
            <a:ln w="9525" cap="sq">
              <a:solidFill>
                <a:srgbClr val="695C49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1553766" y="4562294"/>
            <a:ext cx="937860" cy="285121"/>
            <a:chOff x="0" y="0"/>
            <a:chExt cx="1250480" cy="380162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1250442" cy="380111"/>
            </a:xfrm>
            <a:custGeom>
              <a:avLst/>
              <a:gdLst/>
              <a:ahLst/>
              <a:cxnLst/>
              <a:rect l="l" t="t" r="r" b="b"/>
              <a:pathLst>
                <a:path w="1250442" h="380111">
                  <a:moveTo>
                    <a:pt x="0" y="0"/>
                  </a:moveTo>
                  <a:lnTo>
                    <a:pt x="1250442" y="0"/>
                  </a:lnTo>
                  <a:lnTo>
                    <a:pt x="1250442" y="380111"/>
                  </a:lnTo>
                  <a:lnTo>
                    <a:pt x="0" y="380111"/>
                  </a:lnTo>
                  <a:close/>
                </a:path>
              </a:pathLst>
            </a:custGeom>
            <a:solidFill>
              <a:srgbClr val="FCF4E7"/>
            </a:solidFill>
            <a:ln w="9525" cap="sq">
              <a:solidFill>
                <a:srgbClr val="695C49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2361819" y="4562294"/>
            <a:ext cx="125568" cy="285121"/>
            <a:chOff x="0" y="0"/>
            <a:chExt cx="167424" cy="38016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167386" cy="380111"/>
            </a:xfrm>
            <a:custGeom>
              <a:avLst/>
              <a:gdLst/>
              <a:ahLst/>
              <a:cxnLst/>
              <a:rect l="l" t="t" r="r" b="b"/>
              <a:pathLst>
                <a:path w="167386" h="380111">
                  <a:moveTo>
                    <a:pt x="0" y="0"/>
                  </a:moveTo>
                  <a:lnTo>
                    <a:pt x="167386" y="0"/>
                  </a:lnTo>
                  <a:lnTo>
                    <a:pt x="167386" y="380111"/>
                  </a:lnTo>
                  <a:lnTo>
                    <a:pt x="0" y="380111"/>
                  </a:lnTo>
                  <a:close/>
                </a:path>
              </a:pathLst>
            </a:custGeom>
            <a:solidFill>
              <a:srgbClr val="FCF4E7"/>
            </a:solidFill>
            <a:ln w="9525" cap="sq">
              <a:solidFill>
                <a:srgbClr val="695C49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46553" y="3613361"/>
            <a:ext cx="879843" cy="285121"/>
            <a:chOff x="0" y="0"/>
            <a:chExt cx="1173124" cy="380162"/>
          </a:xfrm>
        </p:grpSpPr>
        <p:grpSp>
          <p:nvGrpSpPr>
            <p:cNvPr id="61" name="Group 61"/>
            <p:cNvGrpSpPr/>
            <p:nvPr/>
          </p:nvGrpSpPr>
          <p:grpSpPr>
            <a:xfrm>
              <a:off x="0" y="0"/>
              <a:ext cx="1173124" cy="380162"/>
              <a:chOff x="0" y="0"/>
              <a:chExt cx="1173124" cy="380162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1173099" cy="380111"/>
              </a:xfrm>
              <a:custGeom>
                <a:avLst/>
                <a:gdLst/>
                <a:ahLst/>
                <a:cxnLst/>
                <a:rect l="l" t="t" r="r" b="b"/>
                <a:pathLst>
                  <a:path w="1173099" h="380111">
                    <a:moveTo>
                      <a:pt x="0" y="0"/>
                    </a:moveTo>
                    <a:lnTo>
                      <a:pt x="1173099" y="0"/>
                    </a:lnTo>
                    <a:lnTo>
                      <a:pt x="1173099" y="380111"/>
                    </a:lnTo>
                    <a:lnTo>
                      <a:pt x="0" y="380111"/>
                    </a:lnTo>
                    <a:close/>
                  </a:path>
                </a:pathLst>
              </a:custGeom>
              <a:solidFill>
                <a:srgbClr val="FCF4E7"/>
              </a:solidFill>
              <a:ln w="9525" cap="sq">
                <a:solidFill>
                  <a:srgbClr val="695C49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63" name="Group 63"/>
            <p:cNvGrpSpPr/>
            <p:nvPr/>
          </p:nvGrpSpPr>
          <p:grpSpPr>
            <a:xfrm>
              <a:off x="1005700" y="0"/>
              <a:ext cx="167424" cy="380162"/>
              <a:chOff x="0" y="0"/>
              <a:chExt cx="167424" cy="380162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0" y="0"/>
                <a:ext cx="167386" cy="380111"/>
              </a:xfrm>
              <a:custGeom>
                <a:avLst/>
                <a:gdLst/>
                <a:ahLst/>
                <a:cxnLst/>
                <a:rect l="l" t="t" r="r" b="b"/>
                <a:pathLst>
                  <a:path w="167386" h="380111">
                    <a:moveTo>
                      <a:pt x="0" y="0"/>
                    </a:moveTo>
                    <a:lnTo>
                      <a:pt x="167386" y="0"/>
                    </a:lnTo>
                    <a:lnTo>
                      <a:pt x="167386" y="380111"/>
                    </a:lnTo>
                    <a:lnTo>
                      <a:pt x="0" y="380111"/>
                    </a:lnTo>
                    <a:close/>
                  </a:path>
                </a:pathLst>
              </a:custGeom>
              <a:solidFill>
                <a:srgbClr val="FCF4E7"/>
              </a:solidFill>
              <a:ln w="9525" cap="sq">
                <a:solidFill>
                  <a:srgbClr val="695C49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5646553" y="4668164"/>
            <a:ext cx="879843" cy="285121"/>
            <a:chOff x="0" y="0"/>
            <a:chExt cx="1173124" cy="380162"/>
          </a:xfrm>
        </p:grpSpPr>
        <p:grpSp>
          <p:nvGrpSpPr>
            <p:cNvPr id="66" name="Group 66"/>
            <p:cNvGrpSpPr/>
            <p:nvPr/>
          </p:nvGrpSpPr>
          <p:grpSpPr>
            <a:xfrm>
              <a:off x="0" y="0"/>
              <a:ext cx="1173124" cy="380162"/>
              <a:chOff x="0" y="0"/>
              <a:chExt cx="1173124" cy="380162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0" y="0"/>
                <a:ext cx="1173099" cy="380111"/>
              </a:xfrm>
              <a:custGeom>
                <a:avLst/>
                <a:gdLst/>
                <a:ahLst/>
                <a:cxnLst/>
                <a:rect l="l" t="t" r="r" b="b"/>
                <a:pathLst>
                  <a:path w="1173099" h="380111">
                    <a:moveTo>
                      <a:pt x="0" y="0"/>
                    </a:moveTo>
                    <a:lnTo>
                      <a:pt x="1173099" y="0"/>
                    </a:lnTo>
                    <a:lnTo>
                      <a:pt x="1173099" y="380111"/>
                    </a:lnTo>
                    <a:lnTo>
                      <a:pt x="0" y="380111"/>
                    </a:lnTo>
                    <a:close/>
                  </a:path>
                </a:pathLst>
              </a:custGeom>
              <a:solidFill>
                <a:srgbClr val="FCF4E7"/>
              </a:solidFill>
              <a:ln w="9525" cap="sq">
                <a:solidFill>
                  <a:srgbClr val="695C49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68" name="Group 68"/>
            <p:cNvGrpSpPr/>
            <p:nvPr/>
          </p:nvGrpSpPr>
          <p:grpSpPr>
            <a:xfrm>
              <a:off x="1005700" y="0"/>
              <a:ext cx="167424" cy="380162"/>
              <a:chOff x="0" y="0"/>
              <a:chExt cx="167424" cy="380162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0" y="0"/>
                <a:ext cx="167386" cy="380111"/>
              </a:xfrm>
              <a:custGeom>
                <a:avLst/>
                <a:gdLst/>
                <a:ahLst/>
                <a:cxnLst/>
                <a:rect l="l" t="t" r="r" b="b"/>
                <a:pathLst>
                  <a:path w="167386" h="380111">
                    <a:moveTo>
                      <a:pt x="0" y="0"/>
                    </a:moveTo>
                    <a:lnTo>
                      <a:pt x="167386" y="0"/>
                    </a:lnTo>
                    <a:lnTo>
                      <a:pt x="167386" y="380111"/>
                    </a:lnTo>
                    <a:lnTo>
                      <a:pt x="0" y="380111"/>
                    </a:lnTo>
                    <a:close/>
                  </a:path>
                </a:pathLst>
              </a:custGeom>
              <a:solidFill>
                <a:srgbClr val="FCF4E7"/>
              </a:solidFill>
              <a:ln w="9525" cap="sq">
                <a:solidFill>
                  <a:srgbClr val="695C49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grpSp>
        <p:nvGrpSpPr>
          <p:cNvPr id="70" name="Group 70"/>
          <p:cNvGrpSpPr/>
          <p:nvPr/>
        </p:nvGrpSpPr>
        <p:grpSpPr>
          <a:xfrm>
            <a:off x="9124728" y="3816082"/>
            <a:ext cx="923354" cy="285121"/>
            <a:chOff x="0" y="0"/>
            <a:chExt cx="1231138" cy="380162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1231138" cy="380111"/>
            </a:xfrm>
            <a:custGeom>
              <a:avLst/>
              <a:gdLst/>
              <a:ahLst/>
              <a:cxnLst/>
              <a:rect l="l" t="t" r="r" b="b"/>
              <a:pathLst>
                <a:path w="1231138" h="380111">
                  <a:moveTo>
                    <a:pt x="0" y="0"/>
                  </a:moveTo>
                  <a:lnTo>
                    <a:pt x="1231138" y="0"/>
                  </a:lnTo>
                  <a:lnTo>
                    <a:pt x="1231138" y="380111"/>
                  </a:lnTo>
                  <a:lnTo>
                    <a:pt x="0" y="380111"/>
                  </a:lnTo>
                  <a:close/>
                </a:path>
              </a:pathLst>
            </a:custGeom>
            <a:solidFill>
              <a:srgbClr val="FCF4E7"/>
            </a:solidFill>
            <a:ln w="9525" cap="sq">
              <a:solidFill>
                <a:srgbClr val="695C49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9922513" y="3816082"/>
            <a:ext cx="125568" cy="285121"/>
            <a:chOff x="0" y="0"/>
            <a:chExt cx="167424" cy="380162"/>
          </a:xfrm>
        </p:grpSpPr>
        <p:sp>
          <p:nvSpPr>
            <p:cNvPr id="73" name="Freeform 73"/>
            <p:cNvSpPr/>
            <p:nvPr/>
          </p:nvSpPr>
          <p:spPr>
            <a:xfrm>
              <a:off x="0" y="0"/>
              <a:ext cx="167386" cy="380111"/>
            </a:xfrm>
            <a:custGeom>
              <a:avLst/>
              <a:gdLst/>
              <a:ahLst/>
              <a:cxnLst/>
              <a:rect l="l" t="t" r="r" b="b"/>
              <a:pathLst>
                <a:path w="167386" h="380111">
                  <a:moveTo>
                    <a:pt x="0" y="0"/>
                  </a:moveTo>
                  <a:lnTo>
                    <a:pt x="167386" y="0"/>
                  </a:lnTo>
                  <a:lnTo>
                    <a:pt x="167386" y="380111"/>
                  </a:lnTo>
                  <a:lnTo>
                    <a:pt x="0" y="380111"/>
                  </a:lnTo>
                  <a:close/>
                </a:path>
              </a:pathLst>
            </a:custGeom>
            <a:solidFill>
              <a:srgbClr val="FCF4E7"/>
            </a:solidFill>
            <a:ln w="9525" cap="sq">
              <a:solidFill>
                <a:srgbClr val="695C49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080110" y="4753889"/>
            <a:ext cx="923354" cy="285121"/>
            <a:chOff x="0" y="0"/>
            <a:chExt cx="1231138" cy="380162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1231138" cy="380111"/>
            </a:xfrm>
            <a:custGeom>
              <a:avLst/>
              <a:gdLst/>
              <a:ahLst/>
              <a:cxnLst/>
              <a:rect l="l" t="t" r="r" b="b"/>
              <a:pathLst>
                <a:path w="1231138" h="380111">
                  <a:moveTo>
                    <a:pt x="0" y="0"/>
                  </a:moveTo>
                  <a:lnTo>
                    <a:pt x="1231138" y="0"/>
                  </a:lnTo>
                  <a:lnTo>
                    <a:pt x="1231138" y="380111"/>
                  </a:lnTo>
                  <a:lnTo>
                    <a:pt x="0" y="380111"/>
                  </a:lnTo>
                  <a:close/>
                </a:path>
              </a:pathLst>
            </a:custGeom>
            <a:solidFill>
              <a:srgbClr val="FCF4E7"/>
            </a:solidFill>
            <a:ln w="9525" cap="sq">
              <a:solidFill>
                <a:srgbClr val="695C49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9877896" y="4753889"/>
            <a:ext cx="125568" cy="285121"/>
            <a:chOff x="0" y="0"/>
            <a:chExt cx="167424" cy="380162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167386" cy="380111"/>
            </a:xfrm>
            <a:custGeom>
              <a:avLst/>
              <a:gdLst/>
              <a:ahLst/>
              <a:cxnLst/>
              <a:rect l="l" t="t" r="r" b="b"/>
              <a:pathLst>
                <a:path w="167386" h="380111">
                  <a:moveTo>
                    <a:pt x="0" y="0"/>
                  </a:moveTo>
                  <a:lnTo>
                    <a:pt x="167386" y="0"/>
                  </a:lnTo>
                  <a:lnTo>
                    <a:pt x="167386" y="380111"/>
                  </a:lnTo>
                  <a:lnTo>
                    <a:pt x="0" y="380111"/>
                  </a:lnTo>
                  <a:close/>
                </a:path>
              </a:pathLst>
            </a:custGeom>
            <a:solidFill>
              <a:srgbClr val="FCF4E7"/>
            </a:solidFill>
            <a:ln w="9525" cap="sq">
              <a:solidFill>
                <a:srgbClr val="695C49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-44526" y="4987871"/>
            <a:ext cx="1310707" cy="1146868"/>
            <a:chOff x="0" y="0"/>
            <a:chExt cx="812800" cy="711200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530371" y="0"/>
                  </a:moveTo>
                  <a:lnTo>
                    <a:pt x="282407" y="0"/>
                  </a:lnTo>
                  <a:cubicBezTo>
                    <a:pt x="126426" y="0"/>
                    <a:pt x="0" y="123512"/>
                    <a:pt x="0" y="275871"/>
                  </a:cubicBezTo>
                  <a:cubicBezTo>
                    <a:pt x="0" y="386169"/>
                    <a:pt x="66279" y="481310"/>
                    <a:pt x="162037" y="525451"/>
                  </a:cubicBezTo>
                  <a:lnTo>
                    <a:pt x="162037" y="711200"/>
                  </a:lnTo>
                  <a:lnTo>
                    <a:pt x="353844" y="551732"/>
                  </a:lnTo>
                  <a:lnTo>
                    <a:pt x="530371" y="551732"/>
                  </a:lnTo>
                  <a:cubicBezTo>
                    <a:pt x="686363" y="551732"/>
                    <a:pt x="812800" y="428220"/>
                    <a:pt x="812800" y="275861"/>
                  </a:cubicBezTo>
                  <a:cubicBezTo>
                    <a:pt x="812811" y="123512"/>
                    <a:pt x="686363" y="0"/>
                    <a:pt x="530371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0" y="28575"/>
              <a:ext cx="812800" cy="492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80"/>
                </a:lnSpc>
              </a:pPr>
              <a:endParaRPr/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129028" y="5181464"/>
            <a:ext cx="1046122" cy="596398"/>
            <a:chOff x="-89355" y="-263338"/>
            <a:chExt cx="1394830" cy="795198"/>
          </a:xfrm>
        </p:grpSpPr>
        <p:sp>
          <p:nvSpPr>
            <p:cNvPr id="82" name="Freeform 82"/>
            <p:cNvSpPr/>
            <p:nvPr/>
          </p:nvSpPr>
          <p:spPr>
            <a:xfrm>
              <a:off x="0" y="0"/>
              <a:ext cx="1305475" cy="531860"/>
            </a:xfrm>
            <a:custGeom>
              <a:avLst/>
              <a:gdLst/>
              <a:ahLst/>
              <a:cxnLst/>
              <a:rect l="l" t="t" r="r" b="b"/>
              <a:pathLst>
                <a:path w="1305475" h="531860">
                  <a:moveTo>
                    <a:pt x="0" y="0"/>
                  </a:moveTo>
                  <a:lnTo>
                    <a:pt x="1305475" y="0"/>
                  </a:lnTo>
                  <a:lnTo>
                    <a:pt x="1305475" y="531860"/>
                  </a:lnTo>
                  <a:lnTo>
                    <a:pt x="0" y="5318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272" r="-2272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-89355" y="-263338"/>
              <a:ext cx="1307500" cy="71156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260"/>
                </a:lnSpc>
              </a:pPr>
              <a:r>
                <a:rPr lang="en-US" sz="1400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Expressions</a:t>
              </a:r>
            </a:p>
            <a:p>
              <a:pPr algn="ctr">
                <a:lnSpc>
                  <a:spcPts val="1260"/>
                </a:lnSpc>
              </a:pPr>
              <a:r>
                <a:rPr lang="en-US" sz="1400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(e.g. Cars Moving)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5301012" y="5378968"/>
            <a:ext cx="2223605" cy="641823"/>
            <a:chOff x="0" y="0"/>
            <a:chExt cx="2964807" cy="855764"/>
          </a:xfrm>
        </p:grpSpPr>
        <p:sp>
          <p:nvSpPr>
            <p:cNvPr id="85" name="Freeform 85"/>
            <p:cNvSpPr/>
            <p:nvPr/>
          </p:nvSpPr>
          <p:spPr>
            <a:xfrm>
              <a:off x="0" y="0"/>
              <a:ext cx="2127441" cy="386807"/>
            </a:xfrm>
            <a:custGeom>
              <a:avLst/>
              <a:gdLst/>
              <a:ahLst/>
              <a:cxnLst/>
              <a:rect l="l" t="t" r="r" b="b"/>
              <a:pathLst>
                <a:path w="2127441" h="386807">
                  <a:moveTo>
                    <a:pt x="0" y="0"/>
                  </a:moveTo>
                  <a:lnTo>
                    <a:pt x="2127441" y="0"/>
                  </a:lnTo>
                  <a:lnTo>
                    <a:pt x="2127441" y="386807"/>
                  </a:lnTo>
                  <a:lnTo>
                    <a:pt x="0" y="386807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7168" b="-57167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837367" y="449909"/>
              <a:ext cx="2127440" cy="40585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 dirty="0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GMC-Link</a:t>
              </a:r>
            </a:p>
          </p:txBody>
        </p:sp>
      </p:grpSp>
      <p:grpSp>
        <p:nvGrpSpPr>
          <p:cNvPr id="87" name="Group 87"/>
          <p:cNvGrpSpPr/>
          <p:nvPr/>
        </p:nvGrpSpPr>
        <p:grpSpPr>
          <a:xfrm>
            <a:off x="7269642" y="1307963"/>
            <a:ext cx="509959" cy="509959"/>
            <a:chOff x="0" y="0"/>
            <a:chExt cx="679945" cy="679945"/>
          </a:xfrm>
        </p:grpSpPr>
        <p:sp>
          <p:nvSpPr>
            <p:cNvPr id="88" name="Freeform 88"/>
            <p:cNvSpPr/>
            <p:nvPr/>
          </p:nvSpPr>
          <p:spPr>
            <a:xfrm>
              <a:off x="0" y="0"/>
              <a:ext cx="679958" cy="679958"/>
            </a:xfrm>
            <a:custGeom>
              <a:avLst/>
              <a:gdLst/>
              <a:ahLst/>
              <a:cxnLst/>
              <a:rect l="l" t="t" r="r" b="b"/>
              <a:pathLst>
                <a:path w="679958" h="679958">
                  <a:moveTo>
                    <a:pt x="0" y="339979"/>
                  </a:moveTo>
                  <a:cubicBezTo>
                    <a:pt x="0" y="152273"/>
                    <a:pt x="152273" y="0"/>
                    <a:pt x="339979" y="0"/>
                  </a:cubicBezTo>
                  <a:cubicBezTo>
                    <a:pt x="527685" y="0"/>
                    <a:pt x="679958" y="152273"/>
                    <a:pt x="679958" y="339979"/>
                  </a:cubicBezTo>
                  <a:cubicBezTo>
                    <a:pt x="679958" y="527685"/>
                    <a:pt x="527685" y="679958"/>
                    <a:pt x="339979" y="679958"/>
                  </a:cubicBezTo>
                  <a:cubicBezTo>
                    <a:pt x="152273" y="679958"/>
                    <a:pt x="0" y="527685"/>
                    <a:pt x="0" y="339979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7332421" y="1319984"/>
            <a:ext cx="384391" cy="471421"/>
            <a:chOff x="0" y="0"/>
            <a:chExt cx="512521" cy="628561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12520" cy="628561"/>
            </a:xfrm>
            <a:custGeom>
              <a:avLst/>
              <a:gdLst/>
              <a:ahLst/>
              <a:cxnLst/>
              <a:rect l="l" t="t" r="r" b="b"/>
              <a:pathLst>
                <a:path w="512520" h="628561">
                  <a:moveTo>
                    <a:pt x="0" y="0"/>
                  </a:moveTo>
                  <a:lnTo>
                    <a:pt x="512520" y="0"/>
                  </a:lnTo>
                  <a:lnTo>
                    <a:pt x="512520" y="628561"/>
                  </a:lnTo>
                  <a:lnTo>
                    <a:pt x="0" y="62856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07353" r="-107353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9525"/>
              <a:ext cx="512521" cy="63808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99"/>
                </a:lnSpc>
              </a:pPr>
              <a:r>
                <a:rPr lang="en-US" sz="2499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+</a:t>
              </a:r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8488018" y="1083326"/>
            <a:ext cx="1503617" cy="995934"/>
            <a:chOff x="279036" y="665711"/>
            <a:chExt cx="2004822" cy="1327912"/>
          </a:xfrm>
        </p:grpSpPr>
        <p:sp>
          <p:nvSpPr>
            <p:cNvPr id="93" name="Freeform 93"/>
            <p:cNvSpPr/>
            <p:nvPr/>
          </p:nvSpPr>
          <p:spPr>
            <a:xfrm>
              <a:off x="279036" y="665711"/>
              <a:ext cx="2004822" cy="1327912"/>
            </a:xfrm>
            <a:custGeom>
              <a:avLst/>
              <a:gdLst/>
              <a:ahLst/>
              <a:cxnLst/>
              <a:rect l="l" t="t" r="r" b="b"/>
              <a:pathLst>
                <a:path w="2004822" h="1327912">
                  <a:moveTo>
                    <a:pt x="0" y="663956"/>
                  </a:moveTo>
                  <a:lnTo>
                    <a:pt x="1002411" y="0"/>
                  </a:lnTo>
                  <a:lnTo>
                    <a:pt x="2004822" y="663956"/>
                  </a:lnTo>
                  <a:lnTo>
                    <a:pt x="1002411" y="1327912"/>
                  </a:lnTo>
                  <a:close/>
                </a:path>
              </a:pathLst>
            </a:custGeom>
            <a:solidFill>
              <a:srgbClr val="F2F7EE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96" name="TextBox 96"/>
          <p:cNvSpPr txBox="1"/>
          <p:nvPr/>
        </p:nvSpPr>
        <p:spPr>
          <a:xfrm>
            <a:off x="8516123" y="1235599"/>
            <a:ext cx="1469485" cy="677906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ctr">
              <a:lnSpc>
                <a:spcPts val="1439"/>
              </a:lnSpc>
            </a:pPr>
            <a:r>
              <a:rPr lang="en-US" sz="14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final_score</a:t>
            </a:r>
            <a:r>
              <a:rPr lang="en-US" sz="14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&gt; 0 ?</a:t>
            </a:r>
          </a:p>
        </p:txBody>
      </p:sp>
      <p:grpSp>
        <p:nvGrpSpPr>
          <p:cNvPr id="97" name="Group 97"/>
          <p:cNvGrpSpPr/>
          <p:nvPr/>
        </p:nvGrpSpPr>
        <p:grpSpPr>
          <a:xfrm>
            <a:off x="10966266" y="1073656"/>
            <a:ext cx="1041056" cy="579676"/>
            <a:chOff x="0" y="0"/>
            <a:chExt cx="1388075" cy="772901"/>
          </a:xfrm>
        </p:grpSpPr>
        <p:sp>
          <p:nvSpPr>
            <p:cNvPr id="98" name="Freeform 98"/>
            <p:cNvSpPr/>
            <p:nvPr/>
          </p:nvSpPr>
          <p:spPr>
            <a:xfrm>
              <a:off x="0" y="0"/>
              <a:ext cx="1387975" cy="772927"/>
            </a:xfrm>
            <a:custGeom>
              <a:avLst/>
              <a:gdLst/>
              <a:ahLst/>
              <a:cxnLst/>
              <a:rect l="l" t="t" r="r" b="b"/>
              <a:pathLst>
                <a:path w="1387975" h="772927">
                  <a:moveTo>
                    <a:pt x="0" y="128779"/>
                  </a:moveTo>
                  <a:cubicBezTo>
                    <a:pt x="0" y="57658"/>
                    <a:pt x="64696" y="0"/>
                    <a:pt x="144498" y="0"/>
                  </a:cubicBezTo>
                  <a:lnTo>
                    <a:pt x="1243477" y="0"/>
                  </a:lnTo>
                  <a:cubicBezTo>
                    <a:pt x="1323279" y="0"/>
                    <a:pt x="1387975" y="57658"/>
                    <a:pt x="1387975" y="128779"/>
                  </a:cubicBezTo>
                  <a:lnTo>
                    <a:pt x="1387975" y="644148"/>
                  </a:lnTo>
                  <a:cubicBezTo>
                    <a:pt x="1387975" y="715268"/>
                    <a:pt x="1323279" y="772927"/>
                    <a:pt x="1243477" y="772927"/>
                  </a:cubicBezTo>
                  <a:lnTo>
                    <a:pt x="144498" y="772927"/>
                  </a:lnTo>
                  <a:cubicBezTo>
                    <a:pt x="64696" y="772927"/>
                    <a:pt x="0" y="715268"/>
                    <a:pt x="0" y="644148"/>
                  </a:cubicBezTo>
                  <a:close/>
                </a:path>
              </a:pathLst>
            </a:custGeom>
            <a:solidFill>
              <a:srgbClr val="EEF6EB"/>
            </a:solidFill>
            <a:ln w="13970" cap="sq">
              <a:solidFill>
                <a:srgbClr val="467337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0" y="-9525"/>
              <a:ext cx="1388075" cy="7824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399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Matched</a:t>
              </a:r>
            </a:p>
          </p:txBody>
        </p:sp>
      </p:grpSp>
      <p:grpSp>
        <p:nvGrpSpPr>
          <p:cNvPr id="100" name="Group 100"/>
          <p:cNvGrpSpPr/>
          <p:nvPr/>
        </p:nvGrpSpPr>
        <p:grpSpPr>
          <a:xfrm>
            <a:off x="10944511" y="1813428"/>
            <a:ext cx="1062811" cy="586928"/>
            <a:chOff x="0" y="0"/>
            <a:chExt cx="1417081" cy="782571"/>
          </a:xfrm>
        </p:grpSpPr>
        <p:sp>
          <p:nvSpPr>
            <p:cNvPr id="101" name="Freeform 101"/>
            <p:cNvSpPr/>
            <p:nvPr/>
          </p:nvSpPr>
          <p:spPr>
            <a:xfrm>
              <a:off x="0" y="0"/>
              <a:ext cx="1417132" cy="782571"/>
            </a:xfrm>
            <a:custGeom>
              <a:avLst/>
              <a:gdLst/>
              <a:ahLst/>
              <a:cxnLst/>
              <a:rect l="l" t="t" r="r" b="b"/>
              <a:pathLst>
                <a:path w="1417132" h="782571">
                  <a:moveTo>
                    <a:pt x="0" y="130428"/>
                  </a:moveTo>
                  <a:cubicBezTo>
                    <a:pt x="0" y="58420"/>
                    <a:pt x="63923" y="0"/>
                    <a:pt x="142714" y="0"/>
                  </a:cubicBezTo>
                  <a:lnTo>
                    <a:pt x="1274423" y="0"/>
                  </a:lnTo>
                  <a:cubicBezTo>
                    <a:pt x="1353214" y="0"/>
                    <a:pt x="1417132" y="58420"/>
                    <a:pt x="1417132" y="130428"/>
                  </a:cubicBezTo>
                  <a:lnTo>
                    <a:pt x="1417132" y="652142"/>
                  </a:lnTo>
                  <a:cubicBezTo>
                    <a:pt x="1417132" y="724151"/>
                    <a:pt x="1353214" y="782571"/>
                    <a:pt x="1274423" y="782571"/>
                  </a:cubicBezTo>
                  <a:lnTo>
                    <a:pt x="142714" y="782571"/>
                  </a:lnTo>
                  <a:cubicBezTo>
                    <a:pt x="63923" y="782571"/>
                    <a:pt x="0" y="724151"/>
                    <a:pt x="0" y="652142"/>
                  </a:cubicBezTo>
                  <a:close/>
                </a:path>
              </a:pathLst>
            </a:custGeom>
            <a:solidFill>
              <a:srgbClr val="FFE8E0"/>
            </a:solidFill>
            <a:ln w="13970" cap="sq">
              <a:solidFill>
                <a:srgbClr val="E12D23"/>
              </a:solidFill>
              <a:prstDash val="solid"/>
              <a:miter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0" y="-9525"/>
              <a:ext cx="1417081" cy="7920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399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Mismatched</a:t>
              </a:r>
            </a:p>
          </p:txBody>
        </p:sp>
      </p:grpSp>
      <p:grpSp>
        <p:nvGrpSpPr>
          <p:cNvPr id="103" name="Group 103"/>
          <p:cNvGrpSpPr/>
          <p:nvPr/>
        </p:nvGrpSpPr>
        <p:grpSpPr>
          <a:xfrm>
            <a:off x="10407548" y="1116911"/>
            <a:ext cx="398897" cy="217580"/>
            <a:chOff x="0" y="0"/>
            <a:chExt cx="531863" cy="290106"/>
          </a:xfrm>
        </p:grpSpPr>
        <p:sp>
          <p:nvSpPr>
            <p:cNvPr id="104" name="Freeform 104"/>
            <p:cNvSpPr/>
            <p:nvPr/>
          </p:nvSpPr>
          <p:spPr>
            <a:xfrm>
              <a:off x="0" y="0"/>
              <a:ext cx="531860" cy="290105"/>
            </a:xfrm>
            <a:custGeom>
              <a:avLst/>
              <a:gdLst/>
              <a:ahLst/>
              <a:cxnLst/>
              <a:rect l="l" t="t" r="r" b="b"/>
              <a:pathLst>
                <a:path w="531860" h="290105">
                  <a:moveTo>
                    <a:pt x="0" y="0"/>
                  </a:moveTo>
                  <a:lnTo>
                    <a:pt x="531860" y="0"/>
                  </a:lnTo>
                  <a:lnTo>
                    <a:pt x="531860" y="290105"/>
                  </a:lnTo>
                  <a:lnTo>
                    <a:pt x="0" y="29010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9983" r="-19984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0" y="-19050"/>
              <a:ext cx="531863" cy="309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560"/>
                </a:lnSpc>
              </a:pPr>
              <a:r>
                <a:rPr lang="en-US" sz="130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Yes</a:t>
              </a:r>
            </a:p>
          </p:txBody>
        </p:sp>
      </p:grpSp>
      <p:grpSp>
        <p:nvGrpSpPr>
          <p:cNvPr id="106" name="Group 106"/>
          <p:cNvGrpSpPr/>
          <p:nvPr/>
        </p:nvGrpSpPr>
        <p:grpSpPr>
          <a:xfrm>
            <a:off x="10335016" y="1929203"/>
            <a:ext cx="398897" cy="217580"/>
            <a:chOff x="0" y="0"/>
            <a:chExt cx="531863" cy="290106"/>
          </a:xfrm>
        </p:grpSpPr>
        <p:sp>
          <p:nvSpPr>
            <p:cNvPr id="107" name="Freeform 107"/>
            <p:cNvSpPr/>
            <p:nvPr/>
          </p:nvSpPr>
          <p:spPr>
            <a:xfrm>
              <a:off x="0" y="0"/>
              <a:ext cx="531860" cy="290105"/>
            </a:xfrm>
            <a:custGeom>
              <a:avLst/>
              <a:gdLst/>
              <a:ahLst/>
              <a:cxnLst/>
              <a:rect l="l" t="t" r="r" b="b"/>
              <a:pathLst>
                <a:path w="531860" h="290105">
                  <a:moveTo>
                    <a:pt x="0" y="0"/>
                  </a:moveTo>
                  <a:lnTo>
                    <a:pt x="531860" y="0"/>
                  </a:lnTo>
                  <a:lnTo>
                    <a:pt x="531860" y="290105"/>
                  </a:lnTo>
                  <a:lnTo>
                    <a:pt x="0" y="29010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9983" r="-19984"/>
              </a:stretch>
            </a:blip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" name="TextBox 108"/>
            <p:cNvSpPr txBox="1"/>
            <p:nvPr/>
          </p:nvSpPr>
          <p:spPr>
            <a:xfrm>
              <a:off x="0" y="-19050"/>
              <a:ext cx="531863" cy="30915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560"/>
                </a:lnSpc>
              </a:pPr>
              <a:r>
                <a:rPr lang="en-US" sz="130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No</a:t>
              </a:r>
            </a:p>
          </p:txBody>
        </p:sp>
      </p:grpSp>
      <p:sp>
        <p:nvSpPr>
          <p:cNvPr id="109" name="AutoShape 109"/>
          <p:cNvSpPr/>
          <p:nvPr/>
        </p:nvSpPr>
        <p:spPr>
          <a:xfrm>
            <a:off x="2937320" y="1595580"/>
            <a:ext cx="972121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1" name="AutoShape 111"/>
          <p:cNvSpPr/>
          <p:nvPr/>
        </p:nvSpPr>
        <p:spPr>
          <a:xfrm>
            <a:off x="6642762" y="1581293"/>
            <a:ext cx="59603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2" name="AutoShape 112"/>
          <p:cNvSpPr/>
          <p:nvPr/>
        </p:nvSpPr>
        <p:spPr>
          <a:xfrm>
            <a:off x="7874851" y="1581293"/>
            <a:ext cx="59603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3" name="AutoShape 113"/>
          <p:cNvSpPr/>
          <p:nvPr/>
        </p:nvSpPr>
        <p:spPr>
          <a:xfrm flipV="1">
            <a:off x="10035169" y="1363494"/>
            <a:ext cx="931097" cy="24659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4" name="AutoShape 114"/>
          <p:cNvSpPr/>
          <p:nvPr/>
        </p:nvSpPr>
        <p:spPr>
          <a:xfrm>
            <a:off x="10035169" y="1610092"/>
            <a:ext cx="909342" cy="49680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5" name="AutoShape 115"/>
          <p:cNvSpPr/>
          <p:nvPr/>
        </p:nvSpPr>
        <p:spPr>
          <a:xfrm>
            <a:off x="515795" y="1541407"/>
            <a:ext cx="593858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7" name="AutoShape 117"/>
          <p:cNvSpPr/>
          <p:nvPr/>
        </p:nvSpPr>
        <p:spPr>
          <a:xfrm>
            <a:off x="515795" y="3652504"/>
            <a:ext cx="98062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8" name="AutoShape 118"/>
          <p:cNvSpPr/>
          <p:nvPr/>
        </p:nvSpPr>
        <p:spPr>
          <a:xfrm>
            <a:off x="1109653" y="5448300"/>
            <a:ext cx="40258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9" name="AutoShape 119"/>
          <p:cNvSpPr/>
          <p:nvPr/>
        </p:nvSpPr>
        <p:spPr>
          <a:xfrm flipV="1">
            <a:off x="2008408" y="4910042"/>
            <a:ext cx="0" cy="30825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0" name="AutoShape 120"/>
          <p:cNvSpPr/>
          <p:nvPr/>
        </p:nvSpPr>
        <p:spPr>
          <a:xfrm>
            <a:off x="2428094" y="3661520"/>
            <a:ext cx="1132274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1" name="AutoShape 121"/>
          <p:cNvSpPr/>
          <p:nvPr/>
        </p:nvSpPr>
        <p:spPr>
          <a:xfrm>
            <a:off x="2487387" y="4707303"/>
            <a:ext cx="1132274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2" name="AutoShape 122"/>
          <p:cNvSpPr/>
          <p:nvPr/>
        </p:nvSpPr>
        <p:spPr>
          <a:xfrm>
            <a:off x="4767590" y="3690095"/>
            <a:ext cx="678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3" name="AutoShape 123"/>
          <p:cNvSpPr/>
          <p:nvPr/>
        </p:nvSpPr>
        <p:spPr>
          <a:xfrm>
            <a:off x="4767590" y="4753889"/>
            <a:ext cx="678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4" name="AutoShape 124"/>
          <p:cNvSpPr/>
          <p:nvPr/>
        </p:nvSpPr>
        <p:spPr>
          <a:xfrm>
            <a:off x="6642762" y="3741634"/>
            <a:ext cx="2933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5" name="AutoShape 125"/>
          <p:cNvSpPr/>
          <p:nvPr/>
        </p:nvSpPr>
        <p:spPr>
          <a:xfrm>
            <a:off x="6642762" y="4805115"/>
            <a:ext cx="2933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6" name="AutoShape 126"/>
          <p:cNvSpPr/>
          <p:nvPr/>
        </p:nvSpPr>
        <p:spPr>
          <a:xfrm>
            <a:off x="8223614" y="3755922"/>
            <a:ext cx="678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7" name="AutoShape 127"/>
          <p:cNvSpPr/>
          <p:nvPr/>
        </p:nvSpPr>
        <p:spPr>
          <a:xfrm>
            <a:off x="8192214" y="4805115"/>
            <a:ext cx="678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128" name="Group 128"/>
          <p:cNvGrpSpPr/>
          <p:nvPr/>
        </p:nvGrpSpPr>
        <p:grpSpPr>
          <a:xfrm>
            <a:off x="10212588" y="3833746"/>
            <a:ext cx="684779" cy="281745"/>
            <a:chOff x="0" y="0"/>
            <a:chExt cx="913038" cy="375660"/>
          </a:xfrm>
        </p:grpSpPr>
        <p:sp>
          <p:nvSpPr>
            <p:cNvPr id="129" name="AutoShape 129"/>
            <p:cNvSpPr/>
            <p:nvPr/>
          </p:nvSpPr>
          <p:spPr>
            <a:xfrm>
              <a:off x="0" y="19050"/>
              <a:ext cx="429168" cy="0"/>
            </a:xfrm>
            <a:prstGeom prst="line">
              <a:avLst/>
            </a:prstGeom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0" name="AutoShape 130"/>
            <p:cNvSpPr/>
            <p:nvPr/>
          </p:nvSpPr>
          <p:spPr>
            <a:xfrm flipH="1">
              <a:off x="409787" y="19050"/>
              <a:ext cx="0" cy="337560"/>
            </a:xfrm>
            <a:prstGeom prst="line">
              <a:avLst/>
            </a:prstGeom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1" name="AutoShape 131"/>
            <p:cNvSpPr/>
            <p:nvPr/>
          </p:nvSpPr>
          <p:spPr>
            <a:xfrm>
              <a:off x="388528" y="356610"/>
              <a:ext cx="524510" cy="0"/>
            </a:xfrm>
            <a:prstGeom prst="line">
              <a:avLst/>
            </a:prstGeom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32" name="Group 132"/>
          <p:cNvGrpSpPr/>
          <p:nvPr/>
        </p:nvGrpSpPr>
        <p:grpSpPr>
          <a:xfrm>
            <a:off x="10212588" y="4472988"/>
            <a:ext cx="655852" cy="403003"/>
            <a:chOff x="0" y="0"/>
            <a:chExt cx="874470" cy="537337"/>
          </a:xfrm>
        </p:grpSpPr>
        <p:sp>
          <p:nvSpPr>
            <p:cNvPr id="133" name="AutoShape 133"/>
            <p:cNvSpPr/>
            <p:nvPr/>
          </p:nvSpPr>
          <p:spPr>
            <a:xfrm>
              <a:off x="0" y="518287"/>
              <a:ext cx="429168" cy="0"/>
            </a:xfrm>
            <a:prstGeom prst="line">
              <a:avLst/>
            </a:prstGeom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4" name="AutoShape 134"/>
            <p:cNvSpPr/>
            <p:nvPr/>
          </p:nvSpPr>
          <p:spPr>
            <a:xfrm>
              <a:off x="409787" y="19050"/>
              <a:ext cx="0" cy="499217"/>
            </a:xfrm>
            <a:prstGeom prst="line">
              <a:avLst/>
            </a:prstGeom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5" name="AutoShape 135"/>
            <p:cNvSpPr/>
            <p:nvPr/>
          </p:nvSpPr>
          <p:spPr>
            <a:xfrm>
              <a:off x="381555" y="19050"/>
              <a:ext cx="492915" cy="0"/>
            </a:xfrm>
            <a:prstGeom prst="line">
              <a:avLst/>
            </a:prstGeom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36" name="AutoShape 136"/>
          <p:cNvSpPr/>
          <p:nvPr/>
        </p:nvSpPr>
        <p:spPr>
          <a:xfrm>
            <a:off x="11437979" y="2740638"/>
            <a:ext cx="1" cy="112213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7" name="AutoShape 137"/>
          <p:cNvSpPr/>
          <p:nvPr/>
        </p:nvSpPr>
        <p:spPr>
          <a:xfrm flipV="1">
            <a:off x="7524617" y="2740638"/>
            <a:ext cx="3913364" cy="142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8" name="AutoShape 138"/>
          <p:cNvSpPr/>
          <p:nvPr/>
        </p:nvSpPr>
        <p:spPr>
          <a:xfrm flipH="1" flipV="1">
            <a:off x="7524617" y="1795455"/>
            <a:ext cx="7144" cy="95232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cxnSp>
        <p:nvCxnSpPr>
          <p:cNvPr id="140" name="直線接點 139">
            <a:extLst>
              <a:ext uri="{FF2B5EF4-FFF2-40B4-BE49-F238E27FC236}">
                <a16:creationId xmlns:a16="http://schemas.microsoft.com/office/drawing/2014/main" id="{8DEC9572-A31F-EED3-CF32-10AD68F7859C}"/>
              </a:ext>
            </a:extLst>
          </p:cNvPr>
          <p:cNvCxnSpPr>
            <a:stCxn id="115" idx="0"/>
          </p:cNvCxnSpPr>
          <p:nvPr/>
        </p:nvCxnSpPr>
        <p:spPr>
          <a:xfrm>
            <a:off x="515795" y="1541407"/>
            <a:ext cx="0" cy="212011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AutoShape 111">
            <a:extLst>
              <a:ext uri="{FF2B5EF4-FFF2-40B4-BE49-F238E27FC236}">
                <a16:creationId xmlns:a16="http://schemas.microsoft.com/office/drawing/2014/main" id="{EA640E07-5945-4A63-18D3-33A57D3002D8}"/>
              </a:ext>
            </a:extLst>
          </p:cNvPr>
          <p:cNvSpPr/>
          <p:nvPr/>
        </p:nvSpPr>
        <p:spPr>
          <a:xfrm>
            <a:off x="5016500" y="1581293"/>
            <a:ext cx="59603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2" name="TextBox 6">
            <a:extLst>
              <a:ext uri="{FF2B5EF4-FFF2-40B4-BE49-F238E27FC236}">
                <a16:creationId xmlns:a16="http://schemas.microsoft.com/office/drawing/2014/main" id="{9D570FB0-9FD8-EC6F-6B0C-16A4DA78381C}"/>
              </a:ext>
            </a:extLst>
          </p:cNvPr>
          <p:cNvSpPr txBox="1"/>
          <p:nvPr/>
        </p:nvSpPr>
        <p:spPr>
          <a:xfrm>
            <a:off x="203073" y="3690095"/>
            <a:ext cx="1813160" cy="268128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l">
              <a:lnSpc>
                <a:spcPts val="1920"/>
              </a:lnSpc>
            </a:pPr>
            <a:r>
              <a:rPr lang="en-US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Object </a:t>
            </a:r>
            <a:r>
              <a:rPr lang="en-US" sz="16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bbox</a:t>
            </a:r>
            <a:endParaRPr lang="en-US" sz="16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58</Words>
  <Application>Microsoft Macintosh PowerPoint</Application>
  <PresentationFormat>自訂</PresentationFormat>
  <Paragraphs>31</Paragraphs>
  <Slides>1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7" baseType="lpstr">
      <vt:lpstr>Times New Roman</vt:lpstr>
      <vt:lpstr>Arial</vt:lpstr>
      <vt:lpstr>Calibri</vt:lpstr>
      <vt:lpstr>Times New Roman Bold</vt:lpstr>
      <vt:lpstr>Aptos</vt:lpstr>
      <vt:lpstr>Office Theme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GMC-Link Architecture</dc:title>
  <cp:lastModifiedBy>朱威達</cp:lastModifiedBy>
  <cp:revision>2</cp:revision>
  <dcterms:created xsi:type="dcterms:W3CDTF">2006-08-16T00:00:00Z</dcterms:created>
  <dcterms:modified xsi:type="dcterms:W3CDTF">2026-08-09T06:27:42Z</dcterms:modified>
  <dc:identifier>DAHRw5EqtU4</dc:identifier>
</cp:coreProperties>
</file>
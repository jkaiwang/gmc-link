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notesMasterIdLst>
    <p:notesMasterId r:id="rId3"/>
  </p:notesMasterIdLst>
  <p:sldIdLst>
    <p:sldId id="256" r:id="rId2"/>
  </p:sldIdLst>
  <p:sldSz cx="12166600" cy="6781800"/>
  <p:notesSz cx="6858000" cy="9144000"/>
  <p:embeddedFontLst>
    <p:embeddedFont>
      <p:font typeface="Times New Roman Bold" panose="02020803070505020304" pitchFamily="18" charset="0"/>
      <p:regular r:id="rId4"/>
      <p:bold r:id="rId5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597" autoAdjust="0"/>
    <p:restoredTop sz="94139" autoAdjust="0"/>
  </p:normalViewPr>
  <p:slideViewPr>
    <p:cSldViewPr>
      <p:cViewPr>
        <p:scale>
          <a:sx n="117" d="100"/>
          <a:sy n="117" d="100"/>
        </p:scale>
        <p:origin x="472" y="144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notesMaster" Target="notesMasters/notesMaster1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font" Target="fonts/font2.fntdata"/><Relationship Id="rId4" Type="http://schemas.openxmlformats.org/officeDocument/2006/relationships/font" Target="fonts/font1.fntdata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頁首版面配置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zh-TW" altLang="en-US"/>
          </a:p>
        </p:txBody>
      </p:sp>
      <p:sp>
        <p:nvSpPr>
          <p:cNvPr id="3" name="日期版面配置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3E6E286-DA27-A14C-8237-34C11780D5E8}" type="datetimeFigureOut">
              <a:rPr kumimoji="1" lang="zh-TW" altLang="en-US" smtClean="0"/>
              <a:t>2026/8/12</a:t>
            </a:fld>
            <a:endParaRPr kumimoji="1" lang="zh-TW" altLang="en-US"/>
          </a:p>
        </p:txBody>
      </p:sp>
      <p:sp>
        <p:nvSpPr>
          <p:cNvPr id="4" name="投影片影像版面配置區 3"/>
          <p:cNvSpPr>
            <a:spLocks noGrp="1" noRot="1" noChangeAspect="1"/>
          </p:cNvSpPr>
          <p:nvPr>
            <p:ph type="sldImg" idx="2"/>
          </p:nvPr>
        </p:nvSpPr>
        <p:spPr>
          <a:xfrm>
            <a:off x="661988" y="1143000"/>
            <a:ext cx="5534025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TW" altLang="en-US"/>
          </a:p>
        </p:txBody>
      </p:sp>
      <p:sp>
        <p:nvSpPr>
          <p:cNvPr id="5" name="備忘稿版面配置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kumimoji="1" lang="zh-TW" altLang="en-US"/>
              <a:t>按一下以編輯母片文字樣式</a:t>
            </a:r>
          </a:p>
          <a:p>
            <a:pPr lvl="1"/>
            <a:r>
              <a:rPr kumimoji="1" lang="zh-TW" altLang="en-US"/>
              <a:t>第二層</a:t>
            </a:r>
          </a:p>
          <a:p>
            <a:pPr lvl="2"/>
            <a:r>
              <a:rPr kumimoji="1" lang="zh-TW" altLang="en-US"/>
              <a:t>第三層</a:t>
            </a:r>
          </a:p>
          <a:p>
            <a:pPr lvl="3"/>
            <a:r>
              <a:rPr kumimoji="1" lang="zh-TW" altLang="en-US"/>
              <a:t>第四層</a:t>
            </a:r>
          </a:p>
          <a:p>
            <a:pPr lvl="4"/>
            <a:r>
              <a:rPr kumimoji="1" lang="zh-TW" altLang="en-US"/>
              <a:t>第五層</a:t>
            </a:r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zh-TW" altLang="en-US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981CB28-A13A-D44D-9D7A-F0D918AEDFCB}" type="slidenum">
              <a:rPr kumimoji="1" lang="zh-TW" altLang="en-US" smtClean="0"/>
              <a:t>‹#›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308801761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981CB28-A13A-D44D-9D7A-F0D918AEDFCB}" type="slidenum">
              <a:rPr kumimoji="1" lang="zh-TW" altLang="en-US" smtClean="0"/>
              <a:t>1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8017210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8/12/26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8/12/26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8/12/26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8/12/26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8/12/26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8/12/26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.jpe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1109653" y="747027"/>
            <a:ext cx="1827667" cy="2081508"/>
            <a:chOff x="0" y="0"/>
            <a:chExt cx="2436889" cy="2775344"/>
          </a:xfrm>
        </p:grpSpPr>
        <p:sp>
          <p:nvSpPr>
            <p:cNvPr id="3" name="Freeform 3" descr="gmc_frames_exact_crop.png"/>
            <p:cNvSpPr/>
            <p:nvPr/>
          </p:nvSpPr>
          <p:spPr>
            <a:xfrm>
              <a:off x="0" y="0"/>
              <a:ext cx="2436876" cy="2775331"/>
            </a:xfrm>
            <a:custGeom>
              <a:avLst/>
              <a:gdLst/>
              <a:ahLst/>
              <a:cxnLst/>
              <a:rect l="l" t="t" r="r" b="b"/>
              <a:pathLst>
                <a:path w="2436876" h="2775331">
                  <a:moveTo>
                    <a:pt x="0" y="0"/>
                  </a:moveTo>
                  <a:lnTo>
                    <a:pt x="2436876" y="0"/>
                  </a:lnTo>
                  <a:lnTo>
                    <a:pt x="2436876" y="2775331"/>
                  </a:lnTo>
                  <a:lnTo>
                    <a:pt x="0" y="277533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/>
              </a:stretch>
            </a:blipFill>
          </p:spPr>
          <p:txBody>
            <a:bodyPr/>
            <a:lstStyle/>
            <a:p>
              <a:endParaRPr lang="zh-TW" altLang="en-US"/>
            </a:p>
          </p:txBody>
        </p:sp>
      </p:grpSp>
      <p:grpSp>
        <p:nvGrpSpPr>
          <p:cNvPr id="4" name="Group 4"/>
          <p:cNvGrpSpPr/>
          <p:nvPr/>
        </p:nvGrpSpPr>
        <p:grpSpPr>
          <a:xfrm>
            <a:off x="1261958" y="326365"/>
            <a:ext cx="2020413" cy="371318"/>
            <a:chOff x="0" y="0"/>
            <a:chExt cx="2693884" cy="495091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2417548" cy="338456"/>
            </a:xfrm>
            <a:custGeom>
              <a:avLst/>
              <a:gdLst/>
              <a:ahLst/>
              <a:cxnLst/>
              <a:rect l="l" t="t" r="r" b="b"/>
              <a:pathLst>
                <a:path w="2417548" h="338456">
                  <a:moveTo>
                    <a:pt x="0" y="0"/>
                  </a:moveTo>
                  <a:lnTo>
                    <a:pt x="2417548" y="0"/>
                  </a:lnTo>
                  <a:lnTo>
                    <a:pt x="2417548" y="338456"/>
                  </a:lnTo>
                  <a:lnTo>
                    <a:pt x="0" y="338456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t="-89179" b="-89178"/>
              </a:stretch>
            </a:blipFill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6" name="TextBox 6"/>
            <p:cNvSpPr txBox="1"/>
            <p:nvPr/>
          </p:nvSpPr>
          <p:spPr>
            <a:xfrm>
              <a:off x="276337" y="137587"/>
              <a:ext cx="2417547" cy="357504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1920"/>
                </a:lnSpc>
              </a:pPr>
              <a:r>
                <a:rPr lang="en-US" sz="1600" dirty="0">
                  <a:solidFill>
                    <a:srgbClr val="000000"/>
                  </a:solidFill>
                  <a:latin typeface="Times New Roman"/>
                  <a:ea typeface="Times New Roman"/>
                  <a:cs typeface="Times New Roman"/>
                  <a:sym typeface="Times New Roman"/>
                </a:rPr>
                <a:t>Video Frames</a:t>
              </a:r>
            </a:p>
          </p:txBody>
        </p:sp>
      </p:grpSp>
      <p:grpSp>
        <p:nvGrpSpPr>
          <p:cNvPr id="7" name="Group 7"/>
          <p:cNvGrpSpPr/>
          <p:nvPr/>
        </p:nvGrpSpPr>
        <p:grpSpPr>
          <a:xfrm>
            <a:off x="3951016" y="2271618"/>
            <a:ext cx="2543084" cy="492730"/>
            <a:chOff x="-509072" y="-237629"/>
            <a:chExt cx="2153004" cy="656972"/>
          </a:xfrm>
        </p:grpSpPr>
        <p:sp>
          <p:nvSpPr>
            <p:cNvPr id="8" name="Freeform 8"/>
            <p:cNvSpPr/>
            <p:nvPr/>
          </p:nvSpPr>
          <p:spPr>
            <a:xfrm>
              <a:off x="0" y="0"/>
              <a:ext cx="1643932" cy="387730"/>
            </a:xfrm>
            <a:custGeom>
              <a:avLst/>
              <a:gdLst/>
              <a:ahLst/>
              <a:cxnLst/>
              <a:rect l="l" t="t" r="r" b="b"/>
              <a:pathLst>
                <a:path w="1643932" h="387729">
                  <a:moveTo>
                    <a:pt x="0" y="0"/>
                  </a:moveTo>
                  <a:lnTo>
                    <a:pt x="1643932" y="0"/>
                  </a:lnTo>
                  <a:lnTo>
                    <a:pt x="1643932" y="387729"/>
                  </a:lnTo>
                  <a:lnTo>
                    <a:pt x="0" y="387729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t="-45203" b="-20025"/>
              </a:stretch>
            </a:blipFill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-509072" y="-237629"/>
              <a:ext cx="1993678" cy="656972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1679"/>
                </a:lnSpc>
              </a:pPr>
              <a:r>
                <a:rPr lang="en" altLang="zh-TW" sz="1400" dirty="0"/>
                <a:t>Object </a:t>
              </a:r>
              <a:r>
                <a:rPr lang="en" altLang="zh-TW" sz="1400" dirty="0" err="1"/>
                <a:t>Tracklets</a:t>
              </a:r>
              <a:r>
                <a:rPr lang="en" altLang="zh-TW" sz="1400" dirty="0"/>
                <a:t> </a:t>
              </a:r>
            </a:p>
            <a:p>
              <a:pPr algn="ctr">
                <a:lnSpc>
                  <a:spcPts val="1679"/>
                </a:lnSpc>
              </a:pPr>
              <a:r>
                <a:rPr lang="en" altLang="zh-TW" sz="1400" dirty="0"/>
                <a:t>(</a:t>
              </a:r>
              <a:r>
                <a:rPr lang="en" altLang="zh-TW" sz="1400" dirty="0" err="1"/>
                <a:t>bbox</a:t>
              </a:r>
              <a:r>
                <a:rPr lang="en" altLang="zh-TW" sz="1400" dirty="0"/>
                <a:t> + track ID)</a:t>
              </a:r>
              <a:endParaRPr lang="en-US" sz="1399" dirty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endParaRPr>
            </a:p>
          </p:txBody>
        </p:sp>
      </p:grpSp>
      <p:grpSp>
        <p:nvGrpSpPr>
          <p:cNvPr id="10" name="Group 10"/>
          <p:cNvGrpSpPr/>
          <p:nvPr/>
        </p:nvGrpSpPr>
        <p:grpSpPr>
          <a:xfrm>
            <a:off x="1196903" y="3758143"/>
            <a:ext cx="1565619" cy="494433"/>
            <a:chOff x="0" y="-9525"/>
            <a:chExt cx="2087492" cy="659243"/>
          </a:xfrm>
        </p:grpSpPr>
        <p:sp>
          <p:nvSpPr>
            <p:cNvPr id="11" name="Freeform 11"/>
            <p:cNvSpPr/>
            <p:nvPr/>
          </p:nvSpPr>
          <p:spPr>
            <a:xfrm>
              <a:off x="0" y="0"/>
              <a:ext cx="2087492" cy="649718"/>
            </a:xfrm>
            <a:custGeom>
              <a:avLst/>
              <a:gdLst/>
              <a:ahLst/>
              <a:cxnLst/>
              <a:rect l="l" t="t" r="r" b="b"/>
              <a:pathLst>
                <a:path w="2087491" h="649718">
                  <a:moveTo>
                    <a:pt x="0" y="0"/>
                  </a:moveTo>
                  <a:lnTo>
                    <a:pt x="2087491" y="0"/>
                  </a:lnTo>
                  <a:lnTo>
                    <a:pt x="2087491" y="649718"/>
                  </a:lnTo>
                  <a:lnTo>
                    <a:pt x="0" y="649718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t="-29055" r="11983" b="18852"/>
              </a:stretch>
            </a:blipFill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0" y="-9525"/>
              <a:ext cx="2087489" cy="659242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1679"/>
                </a:lnSpc>
              </a:pPr>
              <a:r>
                <a:rPr lang="en-US" sz="1399" dirty="0">
                  <a:solidFill>
                    <a:srgbClr val="000000"/>
                  </a:solidFill>
                  <a:latin typeface="Times New Roman"/>
                  <a:ea typeface="Times New Roman"/>
                  <a:cs typeface="Times New Roman"/>
                  <a:sym typeface="Times New Roman"/>
                </a:rPr>
                <a:t>13D Motion Vector</a:t>
              </a:r>
            </a:p>
          </p:txBody>
        </p:sp>
      </p:grpSp>
      <p:grpSp>
        <p:nvGrpSpPr>
          <p:cNvPr id="13" name="Group 13"/>
          <p:cNvGrpSpPr/>
          <p:nvPr/>
        </p:nvGrpSpPr>
        <p:grpSpPr>
          <a:xfrm>
            <a:off x="1340949" y="4233434"/>
            <a:ext cx="1378001" cy="253841"/>
            <a:chOff x="0" y="0"/>
            <a:chExt cx="1837334" cy="338455"/>
          </a:xfrm>
        </p:grpSpPr>
        <p:sp>
          <p:nvSpPr>
            <p:cNvPr id="14" name="Freeform 14"/>
            <p:cNvSpPr/>
            <p:nvPr/>
          </p:nvSpPr>
          <p:spPr>
            <a:xfrm>
              <a:off x="0" y="0"/>
              <a:ext cx="1837336" cy="338456"/>
            </a:xfrm>
            <a:custGeom>
              <a:avLst/>
              <a:gdLst/>
              <a:ahLst/>
              <a:cxnLst/>
              <a:rect l="l" t="t" r="r" b="b"/>
              <a:pathLst>
                <a:path w="1837336" h="338456">
                  <a:moveTo>
                    <a:pt x="0" y="0"/>
                  </a:moveTo>
                  <a:lnTo>
                    <a:pt x="1837336" y="0"/>
                  </a:lnTo>
                  <a:lnTo>
                    <a:pt x="1837336" y="338456"/>
                  </a:lnTo>
                  <a:lnTo>
                    <a:pt x="0" y="338456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t="-55776" b="-55775"/>
              </a:stretch>
            </a:blipFill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0" y="-9525"/>
              <a:ext cx="1837334" cy="34798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1679"/>
                </a:lnSpc>
              </a:pPr>
              <a:r>
                <a:rPr lang="en-US" sz="1399" dirty="0">
                  <a:solidFill>
                    <a:srgbClr val="000000"/>
                  </a:solidFill>
                  <a:latin typeface="Times New Roman"/>
                  <a:ea typeface="Times New Roman"/>
                  <a:cs typeface="Times New Roman"/>
                  <a:sym typeface="Times New Roman"/>
                </a:rPr>
                <a:t>384D Embeddings</a:t>
              </a:r>
            </a:p>
          </p:txBody>
        </p:sp>
      </p:grpSp>
      <p:grpSp>
        <p:nvGrpSpPr>
          <p:cNvPr id="16" name="Group 16"/>
          <p:cNvGrpSpPr/>
          <p:nvPr/>
        </p:nvGrpSpPr>
        <p:grpSpPr>
          <a:xfrm>
            <a:off x="1126154" y="3159494"/>
            <a:ext cx="10817746" cy="3095618"/>
            <a:chOff x="-611068" y="-1188393"/>
            <a:chExt cx="7236413" cy="3614293"/>
          </a:xfrm>
        </p:grpSpPr>
        <p:sp>
          <p:nvSpPr>
            <p:cNvPr id="17" name="Freeform 17"/>
            <p:cNvSpPr/>
            <p:nvPr/>
          </p:nvSpPr>
          <p:spPr>
            <a:xfrm>
              <a:off x="-611068" y="-1188393"/>
              <a:ext cx="7236413" cy="3614293"/>
            </a:xfrm>
            <a:custGeom>
              <a:avLst/>
              <a:gdLst/>
              <a:ahLst/>
              <a:cxnLst/>
              <a:rect l="l" t="t" r="r" b="b"/>
              <a:pathLst>
                <a:path w="6689344" h="3614293">
                  <a:moveTo>
                    <a:pt x="0" y="0"/>
                  </a:moveTo>
                  <a:lnTo>
                    <a:pt x="6689344" y="0"/>
                  </a:lnTo>
                  <a:lnTo>
                    <a:pt x="6689344" y="3614293"/>
                  </a:lnTo>
                  <a:lnTo>
                    <a:pt x="0" y="3614293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-19322" r="-19322" b="1"/>
              </a:stretch>
            </a:blipFill>
            <a:ln w="12700" cap="sq">
              <a:solidFill>
                <a:srgbClr val="000000"/>
              </a:solidFill>
              <a:prstDash val="dash"/>
              <a:miter/>
            </a:ln>
          </p:spPr>
          <p:txBody>
            <a:bodyPr/>
            <a:lstStyle/>
            <a:p>
              <a:endParaRPr lang="zh-TW" altLang="en-US" dirty="0"/>
            </a:p>
          </p:txBody>
        </p:sp>
      </p:grpSp>
      <p:grpSp>
        <p:nvGrpSpPr>
          <p:cNvPr id="18" name="Group 18"/>
          <p:cNvGrpSpPr/>
          <p:nvPr/>
        </p:nvGrpSpPr>
        <p:grpSpPr>
          <a:xfrm>
            <a:off x="5320029" y="3235114"/>
            <a:ext cx="1532893" cy="311572"/>
            <a:chOff x="0" y="0"/>
            <a:chExt cx="2043857" cy="415430"/>
          </a:xfrm>
        </p:grpSpPr>
        <p:sp>
          <p:nvSpPr>
            <p:cNvPr id="19" name="Freeform 19"/>
            <p:cNvSpPr/>
            <p:nvPr/>
          </p:nvSpPr>
          <p:spPr>
            <a:xfrm>
              <a:off x="0" y="0"/>
              <a:ext cx="2043858" cy="415426"/>
            </a:xfrm>
            <a:custGeom>
              <a:avLst/>
              <a:gdLst/>
              <a:ahLst/>
              <a:cxnLst/>
              <a:rect l="l" t="t" r="r" b="b"/>
              <a:pathLst>
                <a:path w="2043858" h="415426">
                  <a:moveTo>
                    <a:pt x="0" y="0"/>
                  </a:moveTo>
                  <a:lnTo>
                    <a:pt x="2043858" y="0"/>
                  </a:lnTo>
                  <a:lnTo>
                    <a:pt x="2043858" y="415426"/>
                  </a:lnTo>
                  <a:lnTo>
                    <a:pt x="0" y="415426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t="-48933" r="10104" b="-23422"/>
              </a:stretch>
            </a:blipFill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0" y="-19050"/>
              <a:ext cx="2043857" cy="43448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1560"/>
                </a:lnSpc>
              </a:pPr>
              <a:r>
                <a:rPr lang="en-US" sz="1400" dirty="0">
                  <a:solidFill>
                    <a:srgbClr val="000000"/>
                  </a:solidFill>
                  <a:latin typeface="Times New Roman"/>
                  <a:ea typeface="Times New Roman"/>
                  <a:cs typeface="Times New Roman"/>
                  <a:sym typeface="Times New Roman"/>
                </a:rPr>
                <a:t>256D Motion Vector</a:t>
              </a:r>
            </a:p>
          </p:txBody>
        </p:sp>
      </p:grpSp>
      <p:grpSp>
        <p:nvGrpSpPr>
          <p:cNvPr id="21" name="Group 21"/>
          <p:cNvGrpSpPr/>
          <p:nvPr/>
        </p:nvGrpSpPr>
        <p:grpSpPr>
          <a:xfrm>
            <a:off x="5320029" y="4277307"/>
            <a:ext cx="1407907" cy="364904"/>
            <a:chOff x="0" y="0"/>
            <a:chExt cx="1877210" cy="486538"/>
          </a:xfrm>
        </p:grpSpPr>
        <p:sp>
          <p:nvSpPr>
            <p:cNvPr id="22" name="Freeform 22"/>
            <p:cNvSpPr/>
            <p:nvPr/>
          </p:nvSpPr>
          <p:spPr>
            <a:xfrm>
              <a:off x="0" y="0"/>
              <a:ext cx="1877212" cy="486534"/>
            </a:xfrm>
            <a:custGeom>
              <a:avLst/>
              <a:gdLst/>
              <a:ahLst/>
              <a:cxnLst/>
              <a:rect l="l" t="t" r="r" b="b"/>
              <a:pathLst>
                <a:path w="1877212" h="486534">
                  <a:moveTo>
                    <a:pt x="0" y="0"/>
                  </a:moveTo>
                  <a:lnTo>
                    <a:pt x="1877212" y="0"/>
                  </a:lnTo>
                  <a:lnTo>
                    <a:pt x="1877212" y="486534"/>
                  </a:lnTo>
                  <a:lnTo>
                    <a:pt x="0" y="486534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t="-41781" r="2124" b="-5384"/>
              </a:stretch>
            </a:blipFill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0" y="-19050"/>
              <a:ext cx="1877210" cy="505588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1560"/>
                </a:lnSpc>
              </a:pPr>
              <a:r>
                <a:rPr lang="en-US" sz="1400" dirty="0">
                  <a:solidFill>
                    <a:srgbClr val="000000"/>
                  </a:solidFill>
                  <a:latin typeface="Times New Roman"/>
                  <a:ea typeface="Times New Roman"/>
                  <a:cs typeface="Times New Roman"/>
                  <a:sym typeface="Times New Roman"/>
                </a:rPr>
                <a:t>256D Motion Vector</a:t>
              </a:r>
            </a:p>
          </p:txBody>
        </p:sp>
      </p:grpSp>
      <p:grpSp>
        <p:nvGrpSpPr>
          <p:cNvPr id="24" name="Group 24"/>
          <p:cNvGrpSpPr/>
          <p:nvPr/>
        </p:nvGrpSpPr>
        <p:grpSpPr>
          <a:xfrm>
            <a:off x="8812186" y="3456500"/>
            <a:ext cx="1622554" cy="359582"/>
            <a:chOff x="0" y="0"/>
            <a:chExt cx="2163405" cy="479443"/>
          </a:xfrm>
        </p:grpSpPr>
        <p:sp>
          <p:nvSpPr>
            <p:cNvPr id="25" name="Freeform 25"/>
            <p:cNvSpPr/>
            <p:nvPr/>
          </p:nvSpPr>
          <p:spPr>
            <a:xfrm>
              <a:off x="0" y="0"/>
              <a:ext cx="2163407" cy="479438"/>
            </a:xfrm>
            <a:custGeom>
              <a:avLst/>
              <a:gdLst/>
              <a:ahLst/>
              <a:cxnLst/>
              <a:rect l="l" t="t" r="r" b="b"/>
              <a:pathLst>
                <a:path w="2163407" h="479438">
                  <a:moveTo>
                    <a:pt x="0" y="0"/>
                  </a:moveTo>
                  <a:lnTo>
                    <a:pt x="2163407" y="0"/>
                  </a:lnTo>
                  <a:lnTo>
                    <a:pt x="2163407" y="479438"/>
                  </a:lnTo>
                  <a:lnTo>
                    <a:pt x="0" y="479438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t="-42399" r="15072" b="-6943"/>
              </a:stretch>
            </a:blipFill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0" y="-19050"/>
              <a:ext cx="2163405" cy="498493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1560"/>
                </a:lnSpc>
              </a:pPr>
              <a:r>
                <a:rPr lang="en-US" sz="1300">
                  <a:solidFill>
                    <a:srgbClr val="000000"/>
                  </a:solidFill>
                  <a:latin typeface="Times New Roman"/>
                  <a:ea typeface="Times New Roman"/>
                  <a:cs typeface="Times New Roman"/>
                  <a:sym typeface="Times New Roman"/>
                </a:rPr>
                <a:t>256D Motion Vector</a:t>
              </a:r>
            </a:p>
          </p:txBody>
        </p:sp>
      </p:grpSp>
      <p:grpSp>
        <p:nvGrpSpPr>
          <p:cNvPr id="27" name="Group 27"/>
          <p:cNvGrpSpPr/>
          <p:nvPr/>
        </p:nvGrpSpPr>
        <p:grpSpPr>
          <a:xfrm>
            <a:off x="8911911" y="4449785"/>
            <a:ext cx="1423105" cy="325440"/>
            <a:chOff x="0" y="0"/>
            <a:chExt cx="1897473" cy="433920"/>
          </a:xfrm>
        </p:grpSpPr>
        <p:sp>
          <p:nvSpPr>
            <p:cNvPr id="28" name="Freeform 28"/>
            <p:cNvSpPr/>
            <p:nvPr/>
          </p:nvSpPr>
          <p:spPr>
            <a:xfrm>
              <a:off x="0" y="0"/>
              <a:ext cx="1897475" cy="433916"/>
            </a:xfrm>
            <a:custGeom>
              <a:avLst/>
              <a:gdLst/>
              <a:ahLst/>
              <a:cxnLst/>
              <a:rect l="l" t="t" r="r" b="b"/>
              <a:pathLst>
                <a:path w="1897475" h="433916">
                  <a:moveTo>
                    <a:pt x="0" y="0"/>
                  </a:moveTo>
                  <a:lnTo>
                    <a:pt x="1897475" y="0"/>
                  </a:lnTo>
                  <a:lnTo>
                    <a:pt x="1897475" y="433916"/>
                  </a:lnTo>
                  <a:lnTo>
                    <a:pt x="0" y="433916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t="-46848" r="3169" b="-18163"/>
              </a:stretch>
            </a:blipFill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0" y="-19050"/>
              <a:ext cx="1897473" cy="45297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1560"/>
                </a:lnSpc>
              </a:pPr>
              <a:r>
                <a:rPr lang="en-US" sz="1300">
                  <a:solidFill>
                    <a:srgbClr val="000000"/>
                  </a:solidFill>
                  <a:latin typeface="Times New Roman"/>
                  <a:ea typeface="Times New Roman"/>
                  <a:cs typeface="Times New Roman"/>
                  <a:sym typeface="Times New Roman"/>
                </a:rPr>
                <a:t>256D Motion Vector</a:t>
              </a:r>
            </a:p>
          </p:txBody>
        </p:sp>
      </p:grpSp>
      <p:grpSp>
        <p:nvGrpSpPr>
          <p:cNvPr id="30" name="Group 30"/>
          <p:cNvGrpSpPr/>
          <p:nvPr/>
        </p:nvGrpSpPr>
        <p:grpSpPr>
          <a:xfrm>
            <a:off x="3909441" y="1073658"/>
            <a:ext cx="1043845" cy="1043845"/>
            <a:chOff x="0" y="0"/>
            <a:chExt cx="1391793" cy="1391793"/>
          </a:xfrm>
        </p:grpSpPr>
        <p:sp>
          <p:nvSpPr>
            <p:cNvPr id="31" name="Freeform 31"/>
            <p:cNvSpPr/>
            <p:nvPr/>
          </p:nvSpPr>
          <p:spPr>
            <a:xfrm>
              <a:off x="0" y="0"/>
              <a:ext cx="1391793" cy="1391793"/>
            </a:xfrm>
            <a:custGeom>
              <a:avLst/>
              <a:gdLst/>
              <a:ahLst/>
              <a:cxnLst/>
              <a:rect l="l" t="t" r="r" b="b"/>
              <a:pathLst>
                <a:path w="1391793" h="1391793">
                  <a:moveTo>
                    <a:pt x="0" y="232029"/>
                  </a:moveTo>
                  <a:cubicBezTo>
                    <a:pt x="0" y="103886"/>
                    <a:pt x="103886" y="0"/>
                    <a:pt x="232029" y="0"/>
                  </a:cubicBezTo>
                  <a:lnTo>
                    <a:pt x="1159764" y="0"/>
                  </a:lnTo>
                  <a:cubicBezTo>
                    <a:pt x="1287907" y="0"/>
                    <a:pt x="1391793" y="103886"/>
                    <a:pt x="1391793" y="232029"/>
                  </a:cubicBezTo>
                  <a:lnTo>
                    <a:pt x="1391793" y="1159764"/>
                  </a:lnTo>
                  <a:cubicBezTo>
                    <a:pt x="1391793" y="1287907"/>
                    <a:pt x="1287907" y="1391793"/>
                    <a:pt x="1159764" y="1391793"/>
                  </a:cubicBezTo>
                  <a:lnTo>
                    <a:pt x="232029" y="1391793"/>
                  </a:lnTo>
                  <a:cubicBezTo>
                    <a:pt x="103886" y="1391793"/>
                    <a:pt x="0" y="1287907"/>
                    <a:pt x="0" y="1159764"/>
                  </a:cubicBezTo>
                  <a:close/>
                </a:path>
              </a:pathLst>
            </a:custGeom>
            <a:solidFill>
              <a:srgbClr val="EFF4FA"/>
            </a:solidFill>
            <a:ln w="13970" cap="sq">
              <a:solidFill>
                <a:srgbClr val="374E6C"/>
              </a:solidFill>
              <a:prstDash val="solid"/>
              <a:miter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0" y="-19050"/>
              <a:ext cx="1391793" cy="141084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20"/>
                </a:lnSpc>
              </a:pPr>
              <a:r>
                <a:rPr lang="en-US" sz="1600" dirty="0" err="1">
                  <a:solidFill>
                    <a:srgbClr val="000000"/>
                  </a:solidFill>
                  <a:latin typeface="Times New Roman"/>
                  <a:ea typeface="Times New Roman"/>
                  <a:cs typeface="Times New Roman"/>
                  <a:sym typeface="Times New Roman"/>
                </a:rPr>
                <a:t>iKUN</a:t>
              </a:r>
              <a:endParaRPr lang="en-US" sz="1600" dirty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endParaRPr>
            </a:p>
            <a:p>
              <a:pPr algn="ctr">
                <a:lnSpc>
                  <a:spcPts val="1920"/>
                </a:lnSpc>
              </a:pPr>
              <a:r>
                <a:rPr lang="en-US" sz="1600" dirty="0">
                  <a:solidFill>
                    <a:srgbClr val="000000"/>
                  </a:solidFill>
                  <a:latin typeface="Times New Roman"/>
                  <a:ea typeface="Times New Roman"/>
                  <a:cs typeface="Times New Roman"/>
                  <a:sym typeface="Times New Roman"/>
                </a:rPr>
                <a:t>Model</a:t>
              </a:r>
            </a:p>
          </p:txBody>
        </p:sp>
      </p:grpSp>
      <p:grpSp>
        <p:nvGrpSpPr>
          <p:cNvPr id="33" name="Group 33"/>
          <p:cNvGrpSpPr/>
          <p:nvPr/>
        </p:nvGrpSpPr>
        <p:grpSpPr>
          <a:xfrm>
            <a:off x="3619338" y="3306189"/>
            <a:ext cx="1138133" cy="739235"/>
            <a:chOff x="0" y="0"/>
            <a:chExt cx="1517510" cy="985647"/>
          </a:xfrm>
        </p:grpSpPr>
        <p:sp>
          <p:nvSpPr>
            <p:cNvPr id="34" name="Freeform 34"/>
            <p:cNvSpPr/>
            <p:nvPr/>
          </p:nvSpPr>
          <p:spPr>
            <a:xfrm>
              <a:off x="0" y="0"/>
              <a:ext cx="1517650" cy="985647"/>
            </a:xfrm>
            <a:custGeom>
              <a:avLst/>
              <a:gdLst/>
              <a:ahLst/>
              <a:cxnLst/>
              <a:rect l="l" t="t" r="r" b="b"/>
              <a:pathLst>
                <a:path w="1517650" h="985647">
                  <a:moveTo>
                    <a:pt x="0" y="164338"/>
                  </a:moveTo>
                  <a:cubicBezTo>
                    <a:pt x="0" y="73533"/>
                    <a:pt x="73533" y="0"/>
                    <a:pt x="164338" y="0"/>
                  </a:cubicBezTo>
                  <a:lnTo>
                    <a:pt x="1353312" y="0"/>
                  </a:lnTo>
                  <a:cubicBezTo>
                    <a:pt x="1443990" y="0"/>
                    <a:pt x="1517650" y="73533"/>
                    <a:pt x="1517650" y="164338"/>
                  </a:cubicBezTo>
                  <a:lnTo>
                    <a:pt x="1517650" y="821309"/>
                  </a:lnTo>
                  <a:cubicBezTo>
                    <a:pt x="1517650" y="911987"/>
                    <a:pt x="1444117" y="985647"/>
                    <a:pt x="1353312" y="985647"/>
                  </a:cubicBezTo>
                  <a:lnTo>
                    <a:pt x="164338" y="985647"/>
                  </a:lnTo>
                  <a:cubicBezTo>
                    <a:pt x="73533" y="985647"/>
                    <a:pt x="0" y="912114"/>
                    <a:pt x="0" y="821309"/>
                  </a:cubicBezTo>
                  <a:close/>
                </a:path>
              </a:pathLst>
            </a:custGeom>
            <a:solidFill>
              <a:srgbClr val="EFF4FA"/>
            </a:solidFill>
            <a:ln w="13970" cap="sq">
              <a:solidFill>
                <a:srgbClr val="374E6C"/>
              </a:solidFill>
              <a:prstDash val="solid"/>
              <a:miter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0" y="-9525"/>
              <a:ext cx="1517510" cy="99517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679"/>
                </a:lnSpc>
              </a:pPr>
              <a:r>
                <a:rPr lang="en-US" sz="1399" dirty="0">
                  <a:solidFill>
                    <a:srgbClr val="000000"/>
                  </a:solidFill>
                  <a:latin typeface="Times New Roman"/>
                  <a:ea typeface="Times New Roman"/>
                  <a:cs typeface="Times New Roman"/>
                  <a:sym typeface="Times New Roman"/>
                </a:rPr>
                <a:t>Motion</a:t>
              </a:r>
            </a:p>
            <a:p>
              <a:pPr algn="ctr">
                <a:lnSpc>
                  <a:spcPts val="1679"/>
                </a:lnSpc>
              </a:pPr>
              <a:r>
                <a:rPr lang="en-US" sz="1399" dirty="0">
                  <a:solidFill>
                    <a:srgbClr val="000000"/>
                  </a:solidFill>
                  <a:latin typeface="Times New Roman"/>
                  <a:ea typeface="Times New Roman"/>
                  <a:cs typeface="Times New Roman"/>
                  <a:sym typeface="Times New Roman"/>
                </a:rPr>
                <a:t>Projector</a:t>
              </a:r>
            </a:p>
          </p:txBody>
        </p:sp>
      </p:grpSp>
      <p:grpSp>
        <p:nvGrpSpPr>
          <p:cNvPr id="36" name="Group 36"/>
          <p:cNvGrpSpPr/>
          <p:nvPr/>
        </p:nvGrpSpPr>
        <p:grpSpPr>
          <a:xfrm>
            <a:off x="3619338" y="4449785"/>
            <a:ext cx="1138133" cy="739235"/>
            <a:chOff x="0" y="0"/>
            <a:chExt cx="1517510" cy="985647"/>
          </a:xfrm>
        </p:grpSpPr>
        <p:sp>
          <p:nvSpPr>
            <p:cNvPr id="37" name="Freeform 37"/>
            <p:cNvSpPr/>
            <p:nvPr/>
          </p:nvSpPr>
          <p:spPr>
            <a:xfrm>
              <a:off x="0" y="0"/>
              <a:ext cx="1517650" cy="985647"/>
            </a:xfrm>
            <a:custGeom>
              <a:avLst/>
              <a:gdLst/>
              <a:ahLst/>
              <a:cxnLst/>
              <a:rect l="l" t="t" r="r" b="b"/>
              <a:pathLst>
                <a:path w="1517650" h="985647">
                  <a:moveTo>
                    <a:pt x="0" y="164338"/>
                  </a:moveTo>
                  <a:cubicBezTo>
                    <a:pt x="0" y="73533"/>
                    <a:pt x="73533" y="0"/>
                    <a:pt x="164338" y="0"/>
                  </a:cubicBezTo>
                  <a:lnTo>
                    <a:pt x="1353312" y="0"/>
                  </a:lnTo>
                  <a:cubicBezTo>
                    <a:pt x="1443990" y="0"/>
                    <a:pt x="1517650" y="73533"/>
                    <a:pt x="1517650" y="164338"/>
                  </a:cubicBezTo>
                  <a:lnTo>
                    <a:pt x="1517650" y="821309"/>
                  </a:lnTo>
                  <a:cubicBezTo>
                    <a:pt x="1517650" y="911987"/>
                    <a:pt x="1444117" y="985647"/>
                    <a:pt x="1353312" y="985647"/>
                  </a:cubicBezTo>
                  <a:lnTo>
                    <a:pt x="164338" y="985647"/>
                  </a:lnTo>
                  <a:cubicBezTo>
                    <a:pt x="73533" y="985647"/>
                    <a:pt x="0" y="912114"/>
                    <a:pt x="0" y="821309"/>
                  </a:cubicBezTo>
                  <a:close/>
                </a:path>
              </a:pathLst>
            </a:custGeom>
            <a:solidFill>
              <a:srgbClr val="EFF4FA"/>
            </a:solidFill>
            <a:ln w="13970" cap="sq">
              <a:solidFill>
                <a:srgbClr val="374E6C"/>
              </a:solidFill>
              <a:prstDash val="solid"/>
              <a:miter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0" y="-9525"/>
              <a:ext cx="1517510" cy="99517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679"/>
                </a:lnSpc>
              </a:pPr>
              <a:r>
                <a:rPr lang="en-US" sz="1399" dirty="0">
                  <a:solidFill>
                    <a:srgbClr val="000000"/>
                  </a:solidFill>
                  <a:latin typeface="Times New Roman"/>
                  <a:ea typeface="Times New Roman"/>
                  <a:cs typeface="Times New Roman"/>
                  <a:sym typeface="Times New Roman"/>
                </a:rPr>
                <a:t>Language</a:t>
              </a:r>
            </a:p>
            <a:p>
              <a:pPr algn="ctr">
                <a:lnSpc>
                  <a:spcPts val="1679"/>
                </a:lnSpc>
              </a:pPr>
              <a:r>
                <a:rPr lang="en-US" sz="1399" dirty="0">
                  <a:solidFill>
                    <a:srgbClr val="000000"/>
                  </a:solidFill>
                  <a:latin typeface="Times New Roman"/>
                  <a:ea typeface="Times New Roman"/>
                  <a:cs typeface="Times New Roman"/>
                  <a:sym typeface="Times New Roman"/>
                </a:rPr>
                <a:t>Projector</a:t>
              </a:r>
            </a:p>
          </p:txBody>
        </p:sp>
      </p:grpSp>
      <p:grpSp>
        <p:nvGrpSpPr>
          <p:cNvPr id="39" name="Group 39"/>
          <p:cNvGrpSpPr/>
          <p:nvPr/>
        </p:nvGrpSpPr>
        <p:grpSpPr>
          <a:xfrm>
            <a:off x="6971181" y="3390900"/>
            <a:ext cx="1138133" cy="1798120"/>
            <a:chOff x="0" y="0"/>
            <a:chExt cx="1517510" cy="2397493"/>
          </a:xfrm>
        </p:grpSpPr>
        <p:sp>
          <p:nvSpPr>
            <p:cNvPr id="40" name="Freeform 40"/>
            <p:cNvSpPr/>
            <p:nvPr/>
          </p:nvSpPr>
          <p:spPr>
            <a:xfrm>
              <a:off x="0" y="0"/>
              <a:ext cx="1517523" cy="2397506"/>
            </a:xfrm>
            <a:custGeom>
              <a:avLst/>
              <a:gdLst/>
              <a:ahLst/>
              <a:cxnLst/>
              <a:rect l="l" t="t" r="r" b="b"/>
              <a:pathLst>
                <a:path w="1517523" h="2397506">
                  <a:moveTo>
                    <a:pt x="0" y="252984"/>
                  </a:moveTo>
                  <a:cubicBezTo>
                    <a:pt x="0" y="113284"/>
                    <a:pt x="113284" y="0"/>
                    <a:pt x="252984" y="0"/>
                  </a:cubicBezTo>
                  <a:lnTo>
                    <a:pt x="1264539" y="0"/>
                  </a:lnTo>
                  <a:cubicBezTo>
                    <a:pt x="1404239" y="0"/>
                    <a:pt x="1517523" y="113284"/>
                    <a:pt x="1517523" y="252984"/>
                  </a:cubicBezTo>
                  <a:lnTo>
                    <a:pt x="1517523" y="2144522"/>
                  </a:lnTo>
                  <a:cubicBezTo>
                    <a:pt x="1517523" y="2284222"/>
                    <a:pt x="1404239" y="2397506"/>
                    <a:pt x="1264539" y="2397506"/>
                  </a:cubicBezTo>
                  <a:lnTo>
                    <a:pt x="252984" y="2397506"/>
                  </a:lnTo>
                  <a:cubicBezTo>
                    <a:pt x="113284" y="2397506"/>
                    <a:pt x="0" y="2284222"/>
                    <a:pt x="0" y="2144522"/>
                  </a:cubicBezTo>
                  <a:close/>
                </a:path>
              </a:pathLst>
            </a:custGeom>
            <a:solidFill>
              <a:srgbClr val="EFF4FA"/>
            </a:solidFill>
            <a:ln w="13970" cap="sq">
              <a:solidFill>
                <a:srgbClr val="374E6C"/>
              </a:solidFill>
              <a:prstDash val="solid"/>
              <a:miter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41" name="TextBox 41"/>
            <p:cNvSpPr txBox="1"/>
            <p:nvPr/>
          </p:nvSpPr>
          <p:spPr>
            <a:xfrm>
              <a:off x="0" y="-9525"/>
              <a:ext cx="1517510" cy="2407018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679"/>
                </a:lnSpc>
              </a:pPr>
              <a:r>
                <a:rPr lang="en-US" sz="1399" dirty="0">
                  <a:solidFill>
                    <a:srgbClr val="000000"/>
                  </a:solidFill>
                  <a:latin typeface="Times New Roman"/>
                  <a:ea typeface="Times New Roman"/>
                  <a:cs typeface="Times New Roman"/>
                  <a:sym typeface="Times New Roman"/>
                </a:rPr>
                <a:t>Shared Weight</a:t>
              </a:r>
            </a:p>
            <a:p>
              <a:pPr algn="ctr">
                <a:lnSpc>
                  <a:spcPts val="1679"/>
                </a:lnSpc>
              </a:pPr>
              <a:r>
                <a:rPr lang="en-US" sz="1399" dirty="0">
                  <a:solidFill>
                    <a:srgbClr val="000000"/>
                  </a:solidFill>
                  <a:latin typeface="Times New Roman"/>
                  <a:ea typeface="Times New Roman"/>
                  <a:cs typeface="Times New Roman"/>
                  <a:sym typeface="Times New Roman"/>
                </a:rPr>
                <a:t>MLP</a:t>
              </a:r>
            </a:p>
          </p:txBody>
        </p:sp>
      </p:grpSp>
      <p:grpSp>
        <p:nvGrpSpPr>
          <p:cNvPr id="42" name="Group 42"/>
          <p:cNvGrpSpPr/>
          <p:nvPr/>
        </p:nvGrpSpPr>
        <p:grpSpPr>
          <a:xfrm>
            <a:off x="1588599" y="5229425"/>
            <a:ext cx="898789" cy="615944"/>
            <a:chOff x="0" y="0"/>
            <a:chExt cx="1198385" cy="821258"/>
          </a:xfrm>
        </p:grpSpPr>
        <p:sp>
          <p:nvSpPr>
            <p:cNvPr id="43" name="Freeform 43"/>
            <p:cNvSpPr/>
            <p:nvPr/>
          </p:nvSpPr>
          <p:spPr>
            <a:xfrm>
              <a:off x="0" y="0"/>
              <a:ext cx="1198372" cy="821309"/>
            </a:xfrm>
            <a:custGeom>
              <a:avLst/>
              <a:gdLst/>
              <a:ahLst/>
              <a:cxnLst/>
              <a:rect l="l" t="t" r="r" b="b"/>
              <a:pathLst>
                <a:path w="1198372" h="821309">
                  <a:moveTo>
                    <a:pt x="0" y="136906"/>
                  </a:moveTo>
                  <a:cubicBezTo>
                    <a:pt x="0" y="61341"/>
                    <a:pt x="61341" y="0"/>
                    <a:pt x="136906" y="0"/>
                  </a:cubicBezTo>
                  <a:lnTo>
                    <a:pt x="1061466" y="0"/>
                  </a:lnTo>
                  <a:cubicBezTo>
                    <a:pt x="1137031" y="0"/>
                    <a:pt x="1198372" y="61341"/>
                    <a:pt x="1198372" y="136906"/>
                  </a:cubicBezTo>
                  <a:lnTo>
                    <a:pt x="1198372" y="684403"/>
                  </a:lnTo>
                  <a:cubicBezTo>
                    <a:pt x="1198372" y="759968"/>
                    <a:pt x="1137031" y="821309"/>
                    <a:pt x="1061466" y="821309"/>
                  </a:cubicBezTo>
                  <a:lnTo>
                    <a:pt x="136906" y="821309"/>
                  </a:lnTo>
                  <a:cubicBezTo>
                    <a:pt x="61341" y="821309"/>
                    <a:pt x="0" y="759968"/>
                    <a:pt x="0" y="684403"/>
                  </a:cubicBezTo>
                  <a:close/>
                </a:path>
              </a:pathLst>
            </a:custGeom>
            <a:solidFill>
              <a:srgbClr val="EEF6EB"/>
            </a:solidFill>
            <a:ln w="13970" cap="sq">
              <a:solidFill>
                <a:srgbClr val="467337"/>
              </a:solidFill>
              <a:prstDash val="solid"/>
              <a:miter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44" name="TextBox 44"/>
            <p:cNvSpPr txBox="1"/>
            <p:nvPr/>
          </p:nvSpPr>
          <p:spPr>
            <a:xfrm>
              <a:off x="0" y="-9525"/>
              <a:ext cx="1198385" cy="83078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679"/>
                </a:lnSpc>
              </a:pPr>
              <a:r>
                <a:rPr lang="en-US" sz="1399" dirty="0">
                  <a:solidFill>
                    <a:srgbClr val="000000"/>
                  </a:solidFill>
                  <a:latin typeface="Times New Roman"/>
                  <a:ea typeface="Times New Roman"/>
                  <a:cs typeface="Times New Roman"/>
                  <a:sym typeface="Times New Roman"/>
                </a:rPr>
                <a:t>Text</a:t>
              </a:r>
            </a:p>
            <a:p>
              <a:pPr algn="ctr">
                <a:lnSpc>
                  <a:spcPts val="1679"/>
                </a:lnSpc>
              </a:pPr>
              <a:r>
                <a:rPr lang="en-US" sz="1399" dirty="0">
                  <a:solidFill>
                    <a:srgbClr val="000000"/>
                  </a:solidFill>
                  <a:latin typeface="Times New Roman"/>
                  <a:ea typeface="Times New Roman"/>
                  <a:cs typeface="Times New Roman"/>
                  <a:sym typeface="Times New Roman"/>
                </a:rPr>
                <a:t>Encoder</a:t>
              </a:r>
            </a:p>
          </p:txBody>
        </p:sp>
      </p:grpSp>
      <p:grpSp>
        <p:nvGrpSpPr>
          <p:cNvPr id="45" name="Group 45"/>
          <p:cNvGrpSpPr/>
          <p:nvPr/>
        </p:nvGrpSpPr>
        <p:grpSpPr>
          <a:xfrm>
            <a:off x="10897367" y="3862321"/>
            <a:ext cx="1065600" cy="855278"/>
            <a:chOff x="0" y="0"/>
            <a:chExt cx="1420800" cy="1140371"/>
          </a:xfrm>
        </p:grpSpPr>
        <p:sp>
          <p:nvSpPr>
            <p:cNvPr id="46" name="Freeform 46"/>
            <p:cNvSpPr/>
            <p:nvPr/>
          </p:nvSpPr>
          <p:spPr>
            <a:xfrm>
              <a:off x="0" y="0"/>
              <a:ext cx="1420876" cy="1140460"/>
            </a:xfrm>
            <a:custGeom>
              <a:avLst/>
              <a:gdLst/>
              <a:ahLst/>
              <a:cxnLst/>
              <a:rect l="l" t="t" r="r" b="b"/>
              <a:pathLst>
                <a:path w="1420876" h="1140460">
                  <a:moveTo>
                    <a:pt x="0" y="190119"/>
                  </a:moveTo>
                  <a:cubicBezTo>
                    <a:pt x="0" y="85090"/>
                    <a:pt x="85090" y="0"/>
                    <a:pt x="190119" y="0"/>
                  </a:cubicBezTo>
                  <a:lnTo>
                    <a:pt x="1230757" y="0"/>
                  </a:lnTo>
                  <a:cubicBezTo>
                    <a:pt x="1335786" y="0"/>
                    <a:pt x="1420876" y="85090"/>
                    <a:pt x="1420876" y="190119"/>
                  </a:cubicBezTo>
                  <a:lnTo>
                    <a:pt x="1420876" y="950341"/>
                  </a:lnTo>
                  <a:cubicBezTo>
                    <a:pt x="1420876" y="1055370"/>
                    <a:pt x="1335786" y="1140460"/>
                    <a:pt x="1230757" y="1140460"/>
                  </a:cubicBezTo>
                  <a:lnTo>
                    <a:pt x="190119" y="1140460"/>
                  </a:lnTo>
                  <a:cubicBezTo>
                    <a:pt x="85090" y="1140333"/>
                    <a:pt x="0" y="1055243"/>
                    <a:pt x="0" y="950341"/>
                  </a:cubicBezTo>
                  <a:close/>
                </a:path>
              </a:pathLst>
            </a:custGeom>
            <a:solidFill>
              <a:srgbClr val="FCF4E7"/>
            </a:solidFill>
            <a:ln w="13970" cap="sq">
              <a:solidFill>
                <a:srgbClr val="64523C"/>
              </a:solidFill>
              <a:prstDash val="solid"/>
              <a:miter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47" name="TextBox 47"/>
            <p:cNvSpPr txBox="1"/>
            <p:nvPr/>
          </p:nvSpPr>
          <p:spPr>
            <a:xfrm>
              <a:off x="0" y="-9525"/>
              <a:ext cx="1420800" cy="1149896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679"/>
                </a:lnSpc>
              </a:pPr>
              <a:r>
                <a:rPr lang="en-US" sz="1399" dirty="0">
                  <a:solidFill>
                    <a:srgbClr val="000000"/>
                  </a:solidFill>
                  <a:latin typeface="Times New Roman"/>
                  <a:ea typeface="Times New Roman"/>
                  <a:cs typeface="Times New Roman"/>
                  <a:sym typeface="Times New Roman"/>
                </a:rPr>
                <a:t>Cosine</a:t>
              </a:r>
            </a:p>
            <a:p>
              <a:pPr algn="ctr">
                <a:lnSpc>
                  <a:spcPts val="1679"/>
                </a:lnSpc>
              </a:pPr>
              <a:r>
                <a:rPr lang="en-US" sz="1399" dirty="0">
                  <a:solidFill>
                    <a:srgbClr val="000000"/>
                  </a:solidFill>
                  <a:latin typeface="Times New Roman"/>
                  <a:ea typeface="Times New Roman"/>
                  <a:cs typeface="Times New Roman"/>
                  <a:sym typeface="Times New Roman"/>
                </a:rPr>
                <a:t>Similarity</a:t>
              </a:r>
            </a:p>
          </p:txBody>
        </p:sp>
      </p:grpSp>
      <p:grpSp>
        <p:nvGrpSpPr>
          <p:cNvPr id="48" name="Group 48"/>
          <p:cNvGrpSpPr/>
          <p:nvPr/>
        </p:nvGrpSpPr>
        <p:grpSpPr>
          <a:xfrm>
            <a:off x="5688559" y="1438513"/>
            <a:ext cx="923354" cy="285121"/>
            <a:chOff x="0" y="0"/>
            <a:chExt cx="1231138" cy="380162"/>
          </a:xfrm>
        </p:grpSpPr>
        <p:sp>
          <p:nvSpPr>
            <p:cNvPr id="49" name="Freeform 49"/>
            <p:cNvSpPr/>
            <p:nvPr/>
          </p:nvSpPr>
          <p:spPr>
            <a:xfrm>
              <a:off x="0" y="0"/>
              <a:ext cx="1231138" cy="380111"/>
            </a:xfrm>
            <a:custGeom>
              <a:avLst/>
              <a:gdLst/>
              <a:ahLst/>
              <a:cxnLst/>
              <a:rect l="l" t="t" r="r" b="b"/>
              <a:pathLst>
                <a:path w="1231138" h="380111">
                  <a:moveTo>
                    <a:pt x="0" y="0"/>
                  </a:moveTo>
                  <a:lnTo>
                    <a:pt x="1231138" y="0"/>
                  </a:lnTo>
                  <a:lnTo>
                    <a:pt x="1231138" y="380111"/>
                  </a:lnTo>
                  <a:lnTo>
                    <a:pt x="0" y="380111"/>
                  </a:lnTo>
                  <a:close/>
                </a:path>
              </a:pathLst>
            </a:custGeom>
            <a:solidFill>
              <a:srgbClr val="FCF4E7"/>
            </a:solidFill>
            <a:ln w="9525" cap="sq">
              <a:solidFill>
                <a:srgbClr val="695C49"/>
              </a:solidFill>
              <a:prstDash val="solid"/>
              <a:miter/>
            </a:ln>
          </p:spPr>
          <p:txBody>
            <a:bodyPr/>
            <a:lstStyle/>
            <a:p>
              <a:endParaRPr lang="zh-TW" altLang="en-US"/>
            </a:p>
          </p:txBody>
        </p:sp>
      </p:grpSp>
      <p:grpSp>
        <p:nvGrpSpPr>
          <p:cNvPr id="50" name="Group 50"/>
          <p:cNvGrpSpPr/>
          <p:nvPr/>
        </p:nvGrpSpPr>
        <p:grpSpPr>
          <a:xfrm>
            <a:off x="6486354" y="1438513"/>
            <a:ext cx="125568" cy="285121"/>
            <a:chOff x="0" y="0"/>
            <a:chExt cx="167424" cy="380162"/>
          </a:xfrm>
        </p:grpSpPr>
        <p:sp>
          <p:nvSpPr>
            <p:cNvPr id="51" name="Freeform 51"/>
            <p:cNvSpPr/>
            <p:nvPr/>
          </p:nvSpPr>
          <p:spPr>
            <a:xfrm>
              <a:off x="0" y="0"/>
              <a:ext cx="167386" cy="380111"/>
            </a:xfrm>
            <a:custGeom>
              <a:avLst/>
              <a:gdLst/>
              <a:ahLst/>
              <a:cxnLst/>
              <a:rect l="l" t="t" r="r" b="b"/>
              <a:pathLst>
                <a:path w="167386" h="380111">
                  <a:moveTo>
                    <a:pt x="0" y="0"/>
                  </a:moveTo>
                  <a:lnTo>
                    <a:pt x="167386" y="0"/>
                  </a:lnTo>
                  <a:lnTo>
                    <a:pt x="167386" y="380111"/>
                  </a:lnTo>
                  <a:lnTo>
                    <a:pt x="0" y="380111"/>
                  </a:lnTo>
                  <a:close/>
                </a:path>
              </a:pathLst>
            </a:custGeom>
            <a:solidFill>
              <a:srgbClr val="FCF4E7"/>
            </a:solidFill>
            <a:ln w="9525" cap="sq">
              <a:solidFill>
                <a:srgbClr val="695C49"/>
              </a:solidFill>
              <a:prstDash val="solid"/>
              <a:miter/>
            </a:ln>
          </p:spPr>
          <p:txBody>
            <a:bodyPr/>
            <a:lstStyle/>
            <a:p>
              <a:endParaRPr lang="zh-TW" altLang="en-US"/>
            </a:p>
          </p:txBody>
        </p:sp>
      </p:grpSp>
      <p:grpSp>
        <p:nvGrpSpPr>
          <p:cNvPr id="52" name="Group 52"/>
          <p:cNvGrpSpPr/>
          <p:nvPr/>
        </p:nvGrpSpPr>
        <p:grpSpPr>
          <a:xfrm>
            <a:off x="1547298" y="3520021"/>
            <a:ext cx="821817" cy="285121"/>
            <a:chOff x="0" y="0"/>
            <a:chExt cx="1095756" cy="380162"/>
          </a:xfrm>
        </p:grpSpPr>
        <p:sp>
          <p:nvSpPr>
            <p:cNvPr id="53" name="Freeform 53"/>
            <p:cNvSpPr/>
            <p:nvPr/>
          </p:nvSpPr>
          <p:spPr>
            <a:xfrm>
              <a:off x="0" y="0"/>
              <a:ext cx="1095756" cy="380111"/>
            </a:xfrm>
            <a:custGeom>
              <a:avLst/>
              <a:gdLst/>
              <a:ahLst/>
              <a:cxnLst/>
              <a:rect l="l" t="t" r="r" b="b"/>
              <a:pathLst>
                <a:path w="1095756" h="380111">
                  <a:moveTo>
                    <a:pt x="0" y="0"/>
                  </a:moveTo>
                  <a:lnTo>
                    <a:pt x="1095756" y="0"/>
                  </a:lnTo>
                  <a:lnTo>
                    <a:pt x="1095756" y="380111"/>
                  </a:lnTo>
                  <a:lnTo>
                    <a:pt x="0" y="380111"/>
                  </a:lnTo>
                  <a:close/>
                </a:path>
              </a:pathLst>
            </a:custGeom>
            <a:solidFill>
              <a:srgbClr val="FCF4E7"/>
            </a:solidFill>
            <a:ln w="9525" cap="sq">
              <a:solidFill>
                <a:srgbClr val="695C49"/>
              </a:solidFill>
              <a:prstDash val="solid"/>
              <a:miter/>
            </a:ln>
          </p:spPr>
          <p:txBody>
            <a:bodyPr/>
            <a:lstStyle/>
            <a:p>
              <a:endParaRPr lang="zh-TW" altLang="en-US"/>
            </a:p>
          </p:txBody>
        </p:sp>
      </p:grpSp>
      <p:grpSp>
        <p:nvGrpSpPr>
          <p:cNvPr id="54" name="Group 54"/>
          <p:cNvGrpSpPr/>
          <p:nvPr/>
        </p:nvGrpSpPr>
        <p:grpSpPr>
          <a:xfrm>
            <a:off x="2243557" y="3520021"/>
            <a:ext cx="125568" cy="285121"/>
            <a:chOff x="0" y="0"/>
            <a:chExt cx="167424" cy="380162"/>
          </a:xfrm>
        </p:grpSpPr>
        <p:sp>
          <p:nvSpPr>
            <p:cNvPr id="55" name="Freeform 55"/>
            <p:cNvSpPr/>
            <p:nvPr/>
          </p:nvSpPr>
          <p:spPr>
            <a:xfrm>
              <a:off x="0" y="0"/>
              <a:ext cx="167386" cy="380111"/>
            </a:xfrm>
            <a:custGeom>
              <a:avLst/>
              <a:gdLst/>
              <a:ahLst/>
              <a:cxnLst/>
              <a:rect l="l" t="t" r="r" b="b"/>
              <a:pathLst>
                <a:path w="167386" h="380111">
                  <a:moveTo>
                    <a:pt x="0" y="0"/>
                  </a:moveTo>
                  <a:lnTo>
                    <a:pt x="167386" y="0"/>
                  </a:lnTo>
                  <a:lnTo>
                    <a:pt x="167386" y="380111"/>
                  </a:lnTo>
                  <a:lnTo>
                    <a:pt x="0" y="380111"/>
                  </a:lnTo>
                  <a:close/>
                </a:path>
              </a:pathLst>
            </a:custGeom>
            <a:solidFill>
              <a:srgbClr val="FCF4E7"/>
            </a:solidFill>
            <a:ln w="9525" cap="sq">
              <a:solidFill>
                <a:srgbClr val="695C49"/>
              </a:solidFill>
              <a:prstDash val="solid"/>
              <a:miter/>
            </a:ln>
          </p:spPr>
          <p:txBody>
            <a:bodyPr/>
            <a:lstStyle/>
            <a:p>
              <a:endParaRPr lang="zh-TW" altLang="en-US"/>
            </a:p>
          </p:txBody>
        </p:sp>
      </p:grpSp>
      <p:grpSp>
        <p:nvGrpSpPr>
          <p:cNvPr id="56" name="Group 56"/>
          <p:cNvGrpSpPr/>
          <p:nvPr/>
        </p:nvGrpSpPr>
        <p:grpSpPr>
          <a:xfrm>
            <a:off x="1553766" y="4562294"/>
            <a:ext cx="937860" cy="285121"/>
            <a:chOff x="0" y="0"/>
            <a:chExt cx="1250480" cy="380162"/>
          </a:xfrm>
        </p:grpSpPr>
        <p:sp>
          <p:nvSpPr>
            <p:cNvPr id="57" name="Freeform 57"/>
            <p:cNvSpPr/>
            <p:nvPr/>
          </p:nvSpPr>
          <p:spPr>
            <a:xfrm>
              <a:off x="0" y="0"/>
              <a:ext cx="1250442" cy="380111"/>
            </a:xfrm>
            <a:custGeom>
              <a:avLst/>
              <a:gdLst/>
              <a:ahLst/>
              <a:cxnLst/>
              <a:rect l="l" t="t" r="r" b="b"/>
              <a:pathLst>
                <a:path w="1250442" h="380111">
                  <a:moveTo>
                    <a:pt x="0" y="0"/>
                  </a:moveTo>
                  <a:lnTo>
                    <a:pt x="1250442" y="0"/>
                  </a:lnTo>
                  <a:lnTo>
                    <a:pt x="1250442" y="380111"/>
                  </a:lnTo>
                  <a:lnTo>
                    <a:pt x="0" y="380111"/>
                  </a:lnTo>
                  <a:close/>
                </a:path>
              </a:pathLst>
            </a:custGeom>
            <a:solidFill>
              <a:srgbClr val="FCF4E7"/>
            </a:solidFill>
            <a:ln w="9525" cap="sq">
              <a:solidFill>
                <a:srgbClr val="695C49"/>
              </a:solidFill>
              <a:prstDash val="solid"/>
              <a:miter/>
            </a:ln>
          </p:spPr>
          <p:txBody>
            <a:bodyPr/>
            <a:lstStyle/>
            <a:p>
              <a:endParaRPr lang="zh-TW" altLang="en-US"/>
            </a:p>
          </p:txBody>
        </p:sp>
      </p:grpSp>
      <p:grpSp>
        <p:nvGrpSpPr>
          <p:cNvPr id="58" name="Group 58"/>
          <p:cNvGrpSpPr/>
          <p:nvPr/>
        </p:nvGrpSpPr>
        <p:grpSpPr>
          <a:xfrm>
            <a:off x="2361819" y="4562294"/>
            <a:ext cx="125568" cy="285121"/>
            <a:chOff x="0" y="0"/>
            <a:chExt cx="167424" cy="380162"/>
          </a:xfrm>
        </p:grpSpPr>
        <p:sp>
          <p:nvSpPr>
            <p:cNvPr id="59" name="Freeform 59"/>
            <p:cNvSpPr/>
            <p:nvPr/>
          </p:nvSpPr>
          <p:spPr>
            <a:xfrm>
              <a:off x="0" y="0"/>
              <a:ext cx="167386" cy="380111"/>
            </a:xfrm>
            <a:custGeom>
              <a:avLst/>
              <a:gdLst/>
              <a:ahLst/>
              <a:cxnLst/>
              <a:rect l="l" t="t" r="r" b="b"/>
              <a:pathLst>
                <a:path w="167386" h="380111">
                  <a:moveTo>
                    <a:pt x="0" y="0"/>
                  </a:moveTo>
                  <a:lnTo>
                    <a:pt x="167386" y="0"/>
                  </a:lnTo>
                  <a:lnTo>
                    <a:pt x="167386" y="380111"/>
                  </a:lnTo>
                  <a:lnTo>
                    <a:pt x="0" y="380111"/>
                  </a:lnTo>
                  <a:close/>
                </a:path>
              </a:pathLst>
            </a:custGeom>
            <a:solidFill>
              <a:srgbClr val="FCF4E7"/>
            </a:solidFill>
            <a:ln w="9525" cap="sq">
              <a:solidFill>
                <a:srgbClr val="695C49"/>
              </a:solidFill>
              <a:prstDash val="solid"/>
              <a:miter/>
            </a:ln>
          </p:spPr>
          <p:txBody>
            <a:bodyPr/>
            <a:lstStyle/>
            <a:p>
              <a:endParaRPr lang="zh-TW" altLang="en-US"/>
            </a:p>
          </p:txBody>
        </p:sp>
      </p:grpSp>
      <p:grpSp>
        <p:nvGrpSpPr>
          <p:cNvPr id="60" name="Group 60"/>
          <p:cNvGrpSpPr/>
          <p:nvPr/>
        </p:nvGrpSpPr>
        <p:grpSpPr>
          <a:xfrm>
            <a:off x="5646553" y="3613361"/>
            <a:ext cx="879843" cy="285121"/>
            <a:chOff x="0" y="0"/>
            <a:chExt cx="1173124" cy="380162"/>
          </a:xfrm>
        </p:grpSpPr>
        <p:grpSp>
          <p:nvGrpSpPr>
            <p:cNvPr id="61" name="Group 61"/>
            <p:cNvGrpSpPr/>
            <p:nvPr/>
          </p:nvGrpSpPr>
          <p:grpSpPr>
            <a:xfrm>
              <a:off x="0" y="0"/>
              <a:ext cx="1173124" cy="380162"/>
              <a:chOff x="0" y="0"/>
              <a:chExt cx="1173124" cy="380162"/>
            </a:xfrm>
          </p:grpSpPr>
          <p:sp>
            <p:nvSpPr>
              <p:cNvPr id="62" name="Freeform 62"/>
              <p:cNvSpPr/>
              <p:nvPr/>
            </p:nvSpPr>
            <p:spPr>
              <a:xfrm>
                <a:off x="0" y="0"/>
                <a:ext cx="1173099" cy="380111"/>
              </a:xfrm>
              <a:custGeom>
                <a:avLst/>
                <a:gdLst/>
                <a:ahLst/>
                <a:cxnLst/>
                <a:rect l="l" t="t" r="r" b="b"/>
                <a:pathLst>
                  <a:path w="1173099" h="380111">
                    <a:moveTo>
                      <a:pt x="0" y="0"/>
                    </a:moveTo>
                    <a:lnTo>
                      <a:pt x="1173099" y="0"/>
                    </a:lnTo>
                    <a:lnTo>
                      <a:pt x="1173099" y="380111"/>
                    </a:lnTo>
                    <a:lnTo>
                      <a:pt x="0" y="380111"/>
                    </a:lnTo>
                    <a:close/>
                  </a:path>
                </a:pathLst>
              </a:custGeom>
              <a:solidFill>
                <a:srgbClr val="FCF4E7"/>
              </a:solidFill>
              <a:ln w="9525" cap="sq">
                <a:solidFill>
                  <a:srgbClr val="695C49"/>
                </a:solidFill>
                <a:prstDash val="solid"/>
                <a:miter/>
              </a:ln>
            </p:spPr>
            <p:txBody>
              <a:bodyPr/>
              <a:lstStyle/>
              <a:p>
                <a:endParaRPr lang="zh-TW" altLang="en-US"/>
              </a:p>
            </p:txBody>
          </p:sp>
        </p:grpSp>
        <p:grpSp>
          <p:nvGrpSpPr>
            <p:cNvPr id="63" name="Group 63"/>
            <p:cNvGrpSpPr/>
            <p:nvPr/>
          </p:nvGrpSpPr>
          <p:grpSpPr>
            <a:xfrm>
              <a:off x="1005700" y="0"/>
              <a:ext cx="167424" cy="380162"/>
              <a:chOff x="0" y="0"/>
              <a:chExt cx="167424" cy="380162"/>
            </a:xfrm>
          </p:grpSpPr>
          <p:sp>
            <p:nvSpPr>
              <p:cNvPr id="64" name="Freeform 64"/>
              <p:cNvSpPr/>
              <p:nvPr/>
            </p:nvSpPr>
            <p:spPr>
              <a:xfrm>
                <a:off x="0" y="0"/>
                <a:ext cx="167386" cy="380111"/>
              </a:xfrm>
              <a:custGeom>
                <a:avLst/>
                <a:gdLst/>
                <a:ahLst/>
                <a:cxnLst/>
                <a:rect l="l" t="t" r="r" b="b"/>
                <a:pathLst>
                  <a:path w="167386" h="380111">
                    <a:moveTo>
                      <a:pt x="0" y="0"/>
                    </a:moveTo>
                    <a:lnTo>
                      <a:pt x="167386" y="0"/>
                    </a:lnTo>
                    <a:lnTo>
                      <a:pt x="167386" y="380111"/>
                    </a:lnTo>
                    <a:lnTo>
                      <a:pt x="0" y="380111"/>
                    </a:lnTo>
                    <a:close/>
                  </a:path>
                </a:pathLst>
              </a:custGeom>
              <a:solidFill>
                <a:srgbClr val="FCF4E7"/>
              </a:solidFill>
              <a:ln w="9525" cap="sq">
                <a:solidFill>
                  <a:srgbClr val="695C49"/>
                </a:solidFill>
                <a:prstDash val="solid"/>
                <a:miter/>
              </a:ln>
            </p:spPr>
            <p:txBody>
              <a:bodyPr/>
              <a:lstStyle/>
              <a:p>
                <a:endParaRPr lang="zh-TW" altLang="en-US"/>
              </a:p>
            </p:txBody>
          </p:sp>
        </p:grpSp>
      </p:grpSp>
      <p:grpSp>
        <p:nvGrpSpPr>
          <p:cNvPr id="65" name="Group 65"/>
          <p:cNvGrpSpPr/>
          <p:nvPr/>
        </p:nvGrpSpPr>
        <p:grpSpPr>
          <a:xfrm>
            <a:off x="5646553" y="4668164"/>
            <a:ext cx="879843" cy="285121"/>
            <a:chOff x="0" y="0"/>
            <a:chExt cx="1173124" cy="380162"/>
          </a:xfrm>
        </p:grpSpPr>
        <p:grpSp>
          <p:nvGrpSpPr>
            <p:cNvPr id="66" name="Group 66"/>
            <p:cNvGrpSpPr/>
            <p:nvPr/>
          </p:nvGrpSpPr>
          <p:grpSpPr>
            <a:xfrm>
              <a:off x="0" y="0"/>
              <a:ext cx="1173124" cy="380162"/>
              <a:chOff x="0" y="0"/>
              <a:chExt cx="1173124" cy="380162"/>
            </a:xfrm>
          </p:grpSpPr>
          <p:sp>
            <p:nvSpPr>
              <p:cNvPr id="67" name="Freeform 67"/>
              <p:cNvSpPr/>
              <p:nvPr/>
            </p:nvSpPr>
            <p:spPr>
              <a:xfrm>
                <a:off x="0" y="0"/>
                <a:ext cx="1173099" cy="380111"/>
              </a:xfrm>
              <a:custGeom>
                <a:avLst/>
                <a:gdLst/>
                <a:ahLst/>
                <a:cxnLst/>
                <a:rect l="l" t="t" r="r" b="b"/>
                <a:pathLst>
                  <a:path w="1173099" h="380111">
                    <a:moveTo>
                      <a:pt x="0" y="0"/>
                    </a:moveTo>
                    <a:lnTo>
                      <a:pt x="1173099" y="0"/>
                    </a:lnTo>
                    <a:lnTo>
                      <a:pt x="1173099" y="380111"/>
                    </a:lnTo>
                    <a:lnTo>
                      <a:pt x="0" y="380111"/>
                    </a:lnTo>
                    <a:close/>
                  </a:path>
                </a:pathLst>
              </a:custGeom>
              <a:solidFill>
                <a:srgbClr val="FCF4E7"/>
              </a:solidFill>
              <a:ln w="9525" cap="sq">
                <a:solidFill>
                  <a:srgbClr val="695C49"/>
                </a:solidFill>
                <a:prstDash val="solid"/>
                <a:miter/>
              </a:ln>
            </p:spPr>
            <p:txBody>
              <a:bodyPr/>
              <a:lstStyle/>
              <a:p>
                <a:endParaRPr lang="zh-TW" altLang="en-US"/>
              </a:p>
            </p:txBody>
          </p:sp>
        </p:grpSp>
        <p:grpSp>
          <p:nvGrpSpPr>
            <p:cNvPr id="68" name="Group 68"/>
            <p:cNvGrpSpPr/>
            <p:nvPr/>
          </p:nvGrpSpPr>
          <p:grpSpPr>
            <a:xfrm>
              <a:off x="1005700" y="0"/>
              <a:ext cx="167424" cy="380162"/>
              <a:chOff x="0" y="0"/>
              <a:chExt cx="167424" cy="380162"/>
            </a:xfrm>
          </p:grpSpPr>
          <p:sp>
            <p:nvSpPr>
              <p:cNvPr id="69" name="Freeform 69"/>
              <p:cNvSpPr/>
              <p:nvPr/>
            </p:nvSpPr>
            <p:spPr>
              <a:xfrm>
                <a:off x="0" y="0"/>
                <a:ext cx="167386" cy="380111"/>
              </a:xfrm>
              <a:custGeom>
                <a:avLst/>
                <a:gdLst/>
                <a:ahLst/>
                <a:cxnLst/>
                <a:rect l="l" t="t" r="r" b="b"/>
                <a:pathLst>
                  <a:path w="167386" h="380111">
                    <a:moveTo>
                      <a:pt x="0" y="0"/>
                    </a:moveTo>
                    <a:lnTo>
                      <a:pt x="167386" y="0"/>
                    </a:lnTo>
                    <a:lnTo>
                      <a:pt x="167386" y="380111"/>
                    </a:lnTo>
                    <a:lnTo>
                      <a:pt x="0" y="380111"/>
                    </a:lnTo>
                    <a:close/>
                  </a:path>
                </a:pathLst>
              </a:custGeom>
              <a:solidFill>
                <a:srgbClr val="FCF4E7"/>
              </a:solidFill>
              <a:ln w="9525" cap="sq">
                <a:solidFill>
                  <a:srgbClr val="695C49"/>
                </a:solidFill>
                <a:prstDash val="solid"/>
                <a:miter/>
              </a:ln>
            </p:spPr>
            <p:txBody>
              <a:bodyPr/>
              <a:lstStyle/>
              <a:p>
                <a:endParaRPr lang="zh-TW" altLang="en-US"/>
              </a:p>
            </p:txBody>
          </p:sp>
        </p:grpSp>
      </p:grpSp>
      <p:grpSp>
        <p:nvGrpSpPr>
          <p:cNvPr id="70" name="Group 70"/>
          <p:cNvGrpSpPr/>
          <p:nvPr/>
        </p:nvGrpSpPr>
        <p:grpSpPr>
          <a:xfrm>
            <a:off x="9124728" y="3816082"/>
            <a:ext cx="923354" cy="285121"/>
            <a:chOff x="0" y="0"/>
            <a:chExt cx="1231138" cy="380162"/>
          </a:xfrm>
        </p:grpSpPr>
        <p:sp>
          <p:nvSpPr>
            <p:cNvPr id="71" name="Freeform 71"/>
            <p:cNvSpPr/>
            <p:nvPr/>
          </p:nvSpPr>
          <p:spPr>
            <a:xfrm>
              <a:off x="0" y="0"/>
              <a:ext cx="1231138" cy="380111"/>
            </a:xfrm>
            <a:custGeom>
              <a:avLst/>
              <a:gdLst/>
              <a:ahLst/>
              <a:cxnLst/>
              <a:rect l="l" t="t" r="r" b="b"/>
              <a:pathLst>
                <a:path w="1231138" h="380111">
                  <a:moveTo>
                    <a:pt x="0" y="0"/>
                  </a:moveTo>
                  <a:lnTo>
                    <a:pt x="1231138" y="0"/>
                  </a:lnTo>
                  <a:lnTo>
                    <a:pt x="1231138" y="380111"/>
                  </a:lnTo>
                  <a:lnTo>
                    <a:pt x="0" y="380111"/>
                  </a:lnTo>
                  <a:close/>
                </a:path>
              </a:pathLst>
            </a:custGeom>
            <a:solidFill>
              <a:srgbClr val="FCF4E7"/>
            </a:solidFill>
            <a:ln w="9525" cap="sq">
              <a:solidFill>
                <a:srgbClr val="695C49"/>
              </a:solidFill>
              <a:prstDash val="solid"/>
              <a:miter/>
            </a:ln>
          </p:spPr>
          <p:txBody>
            <a:bodyPr/>
            <a:lstStyle/>
            <a:p>
              <a:endParaRPr lang="zh-TW" altLang="en-US"/>
            </a:p>
          </p:txBody>
        </p:sp>
      </p:grpSp>
      <p:grpSp>
        <p:nvGrpSpPr>
          <p:cNvPr id="72" name="Group 72"/>
          <p:cNvGrpSpPr/>
          <p:nvPr/>
        </p:nvGrpSpPr>
        <p:grpSpPr>
          <a:xfrm>
            <a:off x="9922513" y="3816082"/>
            <a:ext cx="125568" cy="285121"/>
            <a:chOff x="0" y="0"/>
            <a:chExt cx="167424" cy="380162"/>
          </a:xfrm>
        </p:grpSpPr>
        <p:sp>
          <p:nvSpPr>
            <p:cNvPr id="73" name="Freeform 73"/>
            <p:cNvSpPr/>
            <p:nvPr/>
          </p:nvSpPr>
          <p:spPr>
            <a:xfrm>
              <a:off x="0" y="0"/>
              <a:ext cx="167386" cy="380111"/>
            </a:xfrm>
            <a:custGeom>
              <a:avLst/>
              <a:gdLst/>
              <a:ahLst/>
              <a:cxnLst/>
              <a:rect l="l" t="t" r="r" b="b"/>
              <a:pathLst>
                <a:path w="167386" h="380111">
                  <a:moveTo>
                    <a:pt x="0" y="0"/>
                  </a:moveTo>
                  <a:lnTo>
                    <a:pt x="167386" y="0"/>
                  </a:lnTo>
                  <a:lnTo>
                    <a:pt x="167386" y="380111"/>
                  </a:lnTo>
                  <a:lnTo>
                    <a:pt x="0" y="380111"/>
                  </a:lnTo>
                  <a:close/>
                </a:path>
              </a:pathLst>
            </a:custGeom>
            <a:solidFill>
              <a:srgbClr val="FCF4E7"/>
            </a:solidFill>
            <a:ln w="9525" cap="sq">
              <a:solidFill>
                <a:srgbClr val="695C49"/>
              </a:solidFill>
              <a:prstDash val="solid"/>
              <a:miter/>
            </a:ln>
          </p:spPr>
          <p:txBody>
            <a:bodyPr/>
            <a:lstStyle/>
            <a:p>
              <a:endParaRPr lang="zh-TW" altLang="en-US"/>
            </a:p>
          </p:txBody>
        </p:sp>
      </p:grpSp>
      <p:grpSp>
        <p:nvGrpSpPr>
          <p:cNvPr id="74" name="Group 74"/>
          <p:cNvGrpSpPr/>
          <p:nvPr/>
        </p:nvGrpSpPr>
        <p:grpSpPr>
          <a:xfrm>
            <a:off x="9080110" y="4753889"/>
            <a:ext cx="923354" cy="285121"/>
            <a:chOff x="0" y="0"/>
            <a:chExt cx="1231138" cy="380162"/>
          </a:xfrm>
        </p:grpSpPr>
        <p:sp>
          <p:nvSpPr>
            <p:cNvPr id="75" name="Freeform 75"/>
            <p:cNvSpPr/>
            <p:nvPr/>
          </p:nvSpPr>
          <p:spPr>
            <a:xfrm>
              <a:off x="0" y="0"/>
              <a:ext cx="1231138" cy="380111"/>
            </a:xfrm>
            <a:custGeom>
              <a:avLst/>
              <a:gdLst/>
              <a:ahLst/>
              <a:cxnLst/>
              <a:rect l="l" t="t" r="r" b="b"/>
              <a:pathLst>
                <a:path w="1231138" h="380111">
                  <a:moveTo>
                    <a:pt x="0" y="0"/>
                  </a:moveTo>
                  <a:lnTo>
                    <a:pt x="1231138" y="0"/>
                  </a:lnTo>
                  <a:lnTo>
                    <a:pt x="1231138" y="380111"/>
                  </a:lnTo>
                  <a:lnTo>
                    <a:pt x="0" y="380111"/>
                  </a:lnTo>
                  <a:close/>
                </a:path>
              </a:pathLst>
            </a:custGeom>
            <a:solidFill>
              <a:srgbClr val="FCF4E7"/>
            </a:solidFill>
            <a:ln w="9525" cap="sq">
              <a:solidFill>
                <a:srgbClr val="695C49"/>
              </a:solidFill>
              <a:prstDash val="solid"/>
              <a:miter/>
            </a:ln>
          </p:spPr>
          <p:txBody>
            <a:bodyPr/>
            <a:lstStyle/>
            <a:p>
              <a:endParaRPr lang="zh-TW" altLang="en-US"/>
            </a:p>
          </p:txBody>
        </p:sp>
      </p:grpSp>
      <p:grpSp>
        <p:nvGrpSpPr>
          <p:cNvPr id="76" name="Group 76"/>
          <p:cNvGrpSpPr/>
          <p:nvPr/>
        </p:nvGrpSpPr>
        <p:grpSpPr>
          <a:xfrm>
            <a:off x="9877896" y="4753889"/>
            <a:ext cx="125568" cy="285121"/>
            <a:chOff x="0" y="0"/>
            <a:chExt cx="167424" cy="380162"/>
          </a:xfrm>
        </p:grpSpPr>
        <p:sp>
          <p:nvSpPr>
            <p:cNvPr id="77" name="Freeform 77"/>
            <p:cNvSpPr/>
            <p:nvPr/>
          </p:nvSpPr>
          <p:spPr>
            <a:xfrm>
              <a:off x="0" y="0"/>
              <a:ext cx="167386" cy="380111"/>
            </a:xfrm>
            <a:custGeom>
              <a:avLst/>
              <a:gdLst/>
              <a:ahLst/>
              <a:cxnLst/>
              <a:rect l="l" t="t" r="r" b="b"/>
              <a:pathLst>
                <a:path w="167386" h="380111">
                  <a:moveTo>
                    <a:pt x="0" y="0"/>
                  </a:moveTo>
                  <a:lnTo>
                    <a:pt x="167386" y="0"/>
                  </a:lnTo>
                  <a:lnTo>
                    <a:pt x="167386" y="380111"/>
                  </a:lnTo>
                  <a:lnTo>
                    <a:pt x="0" y="380111"/>
                  </a:lnTo>
                  <a:close/>
                </a:path>
              </a:pathLst>
            </a:custGeom>
            <a:solidFill>
              <a:srgbClr val="FCF4E7"/>
            </a:solidFill>
            <a:ln w="9525" cap="sq">
              <a:solidFill>
                <a:srgbClr val="695C49"/>
              </a:solidFill>
              <a:prstDash val="solid"/>
              <a:miter/>
            </a:ln>
          </p:spPr>
          <p:txBody>
            <a:bodyPr/>
            <a:lstStyle/>
            <a:p>
              <a:endParaRPr lang="zh-TW" altLang="en-US"/>
            </a:p>
          </p:txBody>
        </p:sp>
      </p:grpSp>
      <p:grpSp>
        <p:nvGrpSpPr>
          <p:cNvPr id="78" name="Group 78"/>
          <p:cNvGrpSpPr/>
          <p:nvPr/>
        </p:nvGrpSpPr>
        <p:grpSpPr>
          <a:xfrm>
            <a:off x="236" y="4964078"/>
            <a:ext cx="1310707" cy="1146868"/>
            <a:chOff x="0" y="0"/>
            <a:chExt cx="812800" cy="711200"/>
          </a:xfrm>
        </p:grpSpPr>
        <p:sp>
          <p:nvSpPr>
            <p:cNvPr id="79" name="Freeform 79"/>
            <p:cNvSpPr/>
            <p:nvPr/>
          </p:nvSpPr>
          <p:spPr>
            <a:xfrm>
              <a:off x="0" y="0"/>
              <a:ext cx="812800" cy="711200"/>
            </a:xfrm>
            <a:custGeom>
              <a:avLst/>
              <a:gdLst/>
              <a:ahLst/>
              <a:cxnLst/>
              <a:rect l="l" t="t" r="r" b="b"/>
              <a:pathLst>
                <a:path w="812800" h="711200">
                  <a:moveTo>
                    <a:pt x="530371" y="0"/>
                  </a:moveTo>
                  <a:lnTo>
                    <a:pt x="282407" y="0"/>
                  </a:lnTo>
                  <a:cubicBezTo>
                    <a:pt x="126426" y="0"/>
                    <a:pt x="0" y="123512"/>
                    <a:pt x="0" y="275871"/>
                  </a:cubicBezTo>
                  <a:cubicBezTo>
                    <a:pt x="0" y="386169"/>
                    <a:pt x="66279" y="481310"/>
                    <a:pt x="162037" y="525451"/>
                  </a:cubicBezTo>
                  <a:lnTo>
                    <a:pt x="162037" y="711200"/>
                  </a:lnTo>
                  <a:lnTo>
                    <a:pt x="353844" y="551732"/>
                  </a:lnTo>
                  <a:lnTo>
                    <a:pt x="530371" y="551732"/>
                  </a:lnTo>
                  <a:cubicBezTo>
                    <a:pt x="686363" y="551732"/>
                    <a:pt x="812800" y="428220"/>
                    <a:pt x="812800" y="275861"/>
                  </a:cubicBezTo>
                  <a:cubicBezTo>
                    <a:pt x="812811" y="123512"/>
                    <a:pt x="686363" y="0"/>
                    <a:pt x="530371" y="0"/>
                  </a:cubicBezTo>
                  <a:close/>
                </a:path>
              </a:pathLst>
            </a:custGeom>
            <a:solidFill>
              <a:srgbClr val="D9D9D9"/>
            </a:solidFill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80" name="TextBox 80"/>
            <p:cNvSpPr txBox="1"/>
            <p:nvPr/>
          </p:nvSpPr>
          <p:spPr>
            <a:xfrm>
              <a:off x="0" y="28575"/>
              <a:ext cx="812800" cy="4921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680"/>
                </a:lnSpc>
              </a:pPr>
              <a:endParaRPr/>
            </a:p>
          </p:txBody>
        </p:sp>
      </p:grpSp>
      <p:grpSp>
        <p:nvGrpSpPr>
          <p:cNvPr id="81" name="Group 81"/>
          <p:cNvGrpSpPr/>
          <p:nvPr/>
        </p:nvGrpSpPr>
        <p:grpSpPr>
          <a:xfrm>
            <a:off x="129028" y="5181464"/>
            <a:ext cx="1046122" cy="596398"/>
            <a:chOff x="-89355" y="-263338"/>
            <a:chExt cx="1394830" cy="795198"/>
          </a:xfrm>
        </p:grpSpPr>
        <p:sp>
          <p:nvSpPr>
            <p:cNvPr id="82" name="Freeform 82"/>
            <p:cNvSpPr/>
            <p:nvPr/>
          </p:nvSpPr>
          <p:spPr>
            <a:xfrm>
              <a:off x="0" y="0"/>
              <a:ext cx="1305475" cy="531860"/>
            </a:xfrm>
            <a:custGeom>
              <a:avLst/>
              <a:gdLst/>
              <a:ahLst/>
              <a:cxnLst/>
              <a:rect l="l" t="t" r="r" b="b"/>
              <a:pathLst>
                <a:path w="1305475" h="531860">
                  <a:moveTo>
                    <a:pt x="0" y="0"/>
                  </a:moveTo>
                  <a:lnTo>
                    <a:pt x="1305475" y="0"/>
                  </a:lnTo>
                  <a:lnTo>
                    <a:pt x="1305475" y="531860"/>
                  </a:lnTo>
                  <a:lnTo>
                    <a:pt x="0" y="531860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-2272" r="-2272"/>
              </a:stretch>
            </a:blipFill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83" name="TextBox 83"/>
            <p:cNvSpPr txBox="1"/>
            <p:nvPr/>
          </p:nvSpPr>
          <p:spPr>
            <a:xfrm>
              <a:off x="-89355" y="-263338"/>
              <a:ext cx="1307500" cy="711562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1260"/>
                </a:lnSpc>
              </a:pPr>
              <a:r>
                <a:rPr lang="en-US" sz="1400" dirty="0">
                  <a:solidFill>
                    <a:srgbClr val="000000"/>
                  </a:solidFill>
                  <a:latin typeface="Times New Roman"/>
                  <a:ea typeface="Times New Roman"/>
                  <a:cs typeface="Times New Roman"/>
                  <a:sym typeface="Times New Roman"/>
                </a:rPr>
                <a:t>Expressions</a:t>
              </a:r>
            </a:p>
            <a:p>
              <a:pPr algn="ctr">
                <a:lnSpc>
                  <a:spcPts val="1260"/>
                </a:lnSpc>
              </a:pPr>
              <a:r>
                <a:rPr lang="en-US" sz="1400" dirty="0">
                  <a:solidFill>
                    <a:srgbClr val="000000"/>
                  </a:solidFill>
                  <a:latin typeface="Times New Roman"/>
                  <a:ea typeface="Times New Roman"/>
                  <a:cs typeface="Times New Roman"/>
                  <a:sym typeface="Times New Roman"/>
                </a:rPr>
                <a:t>(e.g. Cars Moving)</a:t>
              </a:r>
            </a:p>
          </p:txBody>
        </p:sp>
      </p:grpSp>
      <p:grpSp>
        <p:nvGrpSpPr>
          <p:cNvPr id="84" name="Group 84"/>
          <p:cNvGrpSpPr/>
          <p:nvPr/>
        </p:nvGrpSpPr>
        <p:grpSpPr>
          <a:xfrm>
            <a:off x="5301012" y="5378968"/>
            <a:ext cx="2223605" cy="641823"/>
            <a:chOff x="0" y="0"/>
            <a:chExt cx="2964807" cy="855764"/>
          </a:xfrm>
        </p:grpSpPr>
        <p:sp>
          <p:nvSpPr>
            <p:cNvPr id="85" name="Freeform 85"/>
            <p:cNvSpPr/>
            <p:nvPr/>
          </p:nvSpPr>
          <p:spPr>
            <a:xfrm>
              <a:off x="0" y="0"/>
              <a:ext cx="2127441" cy="386807"/>
            </a:xfrm>
            <a:custGeom>
              <a:avLst/>
              <a:gdLst/>
              <a:ahLst/>
              <a:cxnLst/>
              <a:rect l="l" t="t" r="r" b="b"/>
              <a:pathLst>
                <a:path w="2127441" h="386807">
                  <a:moveTo>
                    <a:pt x="0" y="0"/>
                  </a:moveTo>
                  <a:lnTo>
                    <a:pt x="2127441" y="0"/>
                  </a:lnTo>
                  <a:lnTo>
                    <a:pt x="2127441" y="386807"/>
                  </a:lnTo>
                  <a:lnTo>
                    <a:pt x="0" y="386807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t="-57168" b="-57167"/>
              </a:stretch>
            </a:blipFill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86" name="TextBox 86"/>
            <p:cNvSpPr txBox="1"/>
            <p:nvPr/>
          </p:nvSpPr>
          <p:spPr>
            <a:xfrm>
              <a:off x="837367" y="449909"/>
              <a:ext cx="2127440" cy="40585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2160"/>
                </a:lnSpc>
              </a:pPr>
              <a:r>
                <a:rPr lang="en-US" sz="1800" b="1" dirty="0">
                  <a:solidFill>
                    <a:srgbClr val="000000"/>
                  </a:solidFill>
                  <a:latin typeface="Times New Roman Bold"/>
                  <a:ea typeface="Times New Roman Bold"/>
                  <a:cs typeface="Times New Roman Bold"/>
                  <a:sym typeface="Times New Roman Bold"/>
                </a:rPr>
                <a:t>GMC-Link</a:t>
              </a:r>
            </a:p>
          </p:txBody>
        </p:sp>
      </p:grpSp>
      <p:grpSp>
        <p:nvGrpSpPr>
          <p:cNvPr id="87" name="Group 87"/>
          <p:cNvGrpSpPr/>
          <p:nvPr/>
        </p:nvGrpSpPr>
        <p:grpSpPr>
          <a:xfrm>
            <a:off x="7269642" y="1307963"/>
            <a:ext cx="509959" cy="509959"/>
            <a:chOff x="0" y="0"/>
            <a:chExt cx="679945" cy="679945"/>
          </a:xfrm>
        </p:grpSpPr>
        <p:sp>
          <p:nvSpPr>
            <p:cNvPr id="88" name="Freeform 88"/>
            <p:cNvSpPr/>
            <p:nvPr/>
          </p:nvSpPr>
          <p:spPr>
            <a:xfrm>
              <a:off x="0" y="0"/>
              <a:ext cx="679958" cy="679958"/>
            </a:xfrm>
            <a:custGeom>
              <a:avLst/>
              <a:gdLst/>
              <a:ahLst/>
              <a:cxnLst/>
              <a:rect l="l" t="t" r="r" b="b"/>
              <a:pathLst>
                <a:path w="679958" h="679958">
                  <a:moveTo>
                    <a:pt x="0" y="339979"/>
                  </a:moveTo>
                  <a:cubicBezTo>
                    <a:pt x="0" y="152273"/>
                    <a:pt x="152273" y="0"/>
                    <a:pt x="339979" y="0"/>
                  </a:cubicBezTo>
                  <a:cubicBezTo>
                    <a:pt x="527685" y="0"/>
                    <a:pt x="679958" y="152273"/>
                    <a:pt x="679958" y="339979"/>
                  </a:cubicBezTo>
                  <a:cubicBezTo>
                    <a:pt x="679958" y="527685"/>
                    <a:pt x="527685" y="679958"/>
                    <a:pt x="339979" y="679958"/>
                  </a:cubicBezTo>
                  <a:cubicBezTo>
                    <a:pt x="152273" y="679958"/>
                    <a:pt x="0" y="527685"/>
                    <a:pt x="0" y="339979"/>
                  </a:cubicBezTo>
                  <a:close/>
                </a:path>
              </a:pathLst>
            </a:custGeom>
            <a:solidFill>
              <a:srgbClr val="FFFFFF"/>
            </a:solidFill>
            <a:ln w="9525" cap="sq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zh-TW" altLang="en-US"/>
            </a:p>
          </p:txBody>
        </p:sp>
      </p:grpSp>
      <p:grpSp>
        <p:nvGrpSpPr>
          <p:cNvPr id="89" name="Group 89"/>
          <p:cNvGrpSpPr/>
          <p:nvPr/>
        </p:nvGrpSpPr>
        <p:grpSpPr>
          <a:xfrm>
            <a:off x="7332421" y="1319984"/>
            <a:ext cx="384391" cy="471421"/>
            <a:chOff x="0" y="0"/>
            <a:chExt cx="512521" cy="628561"/>
          </a:xfrm>
        </p:grpSpPr>
        <p:sp>
          <p:nvSpPr>
            <p:cNvPr id="90" name="Freeform 90"/>
            <p:cNvSpPr/>
            <p:nvPr/>
          </p:nvSpPr>
          <p:spPr>
            <a:xfrm>
              <a:off x="0" y="0"/>
              <a:ext cx="512520" cy="628561"/>
            </a:xfrm>
            <a:custGeom>
              <a:avLst/>
              <a:gdLst/>
              <a:ahLst/>
              <a:cxnLst/>
              <a:rect l="l" t="t" r="r" b="b"/>
              <a:pathLst>
                <a:path w="512520" h="628561">
                  <a:moveTo>
                    <a:pt x="0" y="0"/>
                  </a:moveTo>
                  <a:lnTo>
                    <a:pt x="512520" y="0"/>
                  </a:lnTo>
                  <a:lnTo>
                    <a:pt x="512520" y="628561"/>
                  </a:lnTo>
                  <a:lnTo>
                    <a:pt x="0" y="628561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-107353" r="-107353"/>
              </a:stretch>
            </a:blipFill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91" name="TextBox 91"/>
            <p:cNvSpPr txBox="1"/>
            <p:nvPr/>
          </p:nvSpPr>
          <p:spPr>
            <a:xfrm>
              <a:off x="0" y="-9525"/>
              <a:ext cx="512521" cy="638086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2999"/>
                </a:lnSpc>
              </a:pPr>
              <a:r>
                <a:rPr lang="en-US" sz="2499">
                  <a:solidFill>
                    <a:srgbClr val="000000"/>
                  </a:solidFill>
                  <a:latin typeface="Times New Roman"/>
                  <a:ea typeface="Times New Roman"/>
                  <a:cs typeface="Times New Roman"/>
                  <a:sym typeface="Times New Roman"/>
                </a:rPr>
                <a:t>+</a:t>
              </a:r>
            </a:p>
          </p:txBody>
        </p:sp>
      </p:grpSp>
      <p:grpSp>
        <p:nvGrpSpPr>
          <p:cNvPr id="92" name="Group 92"/>
          <p:cNvGrpSpPr/>
          <p:nvPr/>
        </p:nvGrpSpPr>
        <p:grpSpPr>
          <a:xfrm>
            <a:off x="8488018" y="1083326"/>
            <a:ext cx="1503617" cy="995934"/>
            <a:chOff x="279036" y="665711"/>
            <a:chExt cx="2004822" cy="1327912"/>
          </a:xfrm>
        </p:grpSpPr>
        <p:sp>
          <p:nvSpPr>
            <p:cNvPr id="93" name="Freeform 93"/>
            <p:cNvSpPr/>
            <p:nvPr/>
          </p:nvSpPr>
          <p:spPr>
            <a:xfrm>
              <a:off x="279036" y="665711"/>
              <a:ext cx="2004822" cy="1327912"/>
            </a:xfrm>
            <a:custGeom>
              <a:avLst/>
              <a:gdLst/>
              <a:ahLst/>
              <a:cxnLst/>
              <a:rect l="l" t="t" r="r" b="b"/>
              <a:pathLst>
                <a:path w="2004822" h="1327912">
                  <a:moveTo>
                    <a:pt x="0" y="663956"/>
                  </a:moveTo>
                  <a:lnTo>
                    <a:pt x="1002411" y="0"/>
                  </a:lnTo>
                  <a:lnTo>
                    <a:pt x="2004822" y="663956"/>
                  </a:lnTo>
                  <a:lnTo>
                    <a:pt x="1002411" y="1327912"/>
                  </a:lnTo>
                  <a:close/>
                </a:path>
              </a:pathLst>
            </a:custGeom>
            <a:solidFill>
              <a:srgbClr val="F2F7EE"/>
            </a:solidFill>
            <a:ln w="9525" cap="sq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zh-TW" altLang="en-US"/>
            </a:p>
          </p:txBody>
        </p:sp>
      </p:grpSp>
      <p:sp>
        <p:nvSpPr>
          <p:cNvPr id="96" name="TextBox 96"/>
          <p:cNvSpPr txBox="1"/>
          <p:nvPr/>
        </p:nvSpPr>
        <p:spPr>
          <a:xfrm>
            <a:off x="8516123" y="1235599"/>
            <a:ext cx="1469485" cy="677906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algn="ctr">
              <a:lnSpc>
                <a:spcPts val="1439"/>
              </a:lnSpc>
            </a:pPr>
            <a:r>
              <a:rPr lang="en-US" sz="1400" dirty="0" err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final_score</a:t>
            </a:r>
            <a:r>
              <a:rPr lang="en-US" sz="1400" dirty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&gt; 0 ?</a:t>
            </a:r>
          </a:p>
        </p:txBody>
      </p:sp>
      <p:grpSp>
        <p:nvGrpSpPr>
          <p:cNvPr id="97" name="Group 97"/>
          <p:cNvGrpSpPr/>
          <p:nvPr/>
        </p:nvGrpSpPr>
        <p:grpSpPr>
          <a:xfrm>
            <a:off x="10966266" y="1073656"/>
            <a:ext cx="1041056" cy="579676"/>
            <a:chOff x="0" y="0"/>
            <a:chExt cx="1388075" cy="772901"/>
          </a:xfrm>
        </p:grpSpPr>
        <p:sp>
          <p:nvSpPr>
            <p:cNvPr id="98" name="Freeform 98"/>
            <p:cNvSpPr/>
            <p:nvPr/>
          </p:nvSpPr>
          <p:spPr>
            <a:xfrm>
              <a:off x="0" y="0"/>
              <a:ext cx="1387975" cy="772927"/>
            </a:xfrm>
            <a:custGeom>
              <a:avLst/>
              <a:gdLst/>
              <a:ahLst/>
              <a:cxnLst/>
              <a:rect l="l" t="t" r="r" b="b"/>
              <a:pathLst>
                <a:path w="1387975" h="772927">
                  <a:moveTo>
                    <a:pt x="0" y="128779"/>
                  </a:moveTo>
                  <a:cubicBezTo>
                    <a:pt x="0" y="57658"/>
                    <a:pt x="64696" y="0"/>
                    <a:pt x="144498" y="0"/>
                  </a:cubicBezTo>
                  <a:lnTo>
                    <a:pt x="1243477" y="0"/>
                  </a:lnTo>
                  <a:cubicBezTo>
                    <a:pt x="1323279" y="0"/>
                    <a:pt x="1387975" y="57658"/>
                    <a:pt x="1387975" y="128779"/>
                  </a:cubicBezTo>
                  <a:lnTo>
                    <a:pt x="1387975" y="644148"/>
                  </a:lnTo>
                  <a:cubicBezTo>
                    <a:pt x="1387975" y="715268"/>
                    <a:pt x="1323279" y="772927"/>
                    <a:pt x="1243477" y="772927"/>
                  </a:cubicBezTo>
                  <a:lnTo>
                    <a:pt x="144498" y="772927"/>
                  </a:lnTo>
                  <a:cubicBezTo>
                    <a:pt x="64696" y="772927"/>
                    <a:pt x="0" y="715268"/>
                    <a:pt x="0" y="644148"/>
                  </a:cubicBezTo>
                  <a:close/>
                </a:path>
              </a:pathLst>
            </a:custGeom>
            <a:solidFill>
              <a:srgbClr val="EEF6EB"/>
            </a:solidFill>
            <a:ln w="13970" cap="sq">
              <a:solidFill>
                <a:srgbClr val="467337"/>
              </a:solidFill>
              <a:prstDash val="solid"/>
              <a:miter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99" name="TextBox 99"/>
            <p:cNvSpPr txBox="1"/>
            <p:nvPr/>
          </p:nvSpPr>
          <p:spPr>
            <a:xfrm>
              <a:off x="0" y="-9525"/>
              <a:ext cx="1388075" cy="782426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679"/>
                </a:lnSpc>
              </a:pPr>
              <a:r>
                <a:rPr lang="en-US" sz="1399">
                  <a:solidFill>
                    <a:srgbClr val="000000"/>
                  </a:solidFill>
                  <a:latin typeface="Times New Roman"/>
                  <a:ea typeface="Times New Roman"/>
                  <a:cs typeface="Times New Roman"/>
                  <a:sym typeface="Times New Roman"/>
                </a:rPr>
                <a:t>Matched</a:t>
              </a:r>
            </a:p>
          </p:txBody>
        </p:sp>
      </p:grpSp>
      <p:grpSp>
        <p:nvGrpSpPr>
          <p:cNvPr id="100" name="Group 100"/>
          <p:cNvGrpSpPr/>
          <p:nvPr/>
        </p:nvGrpSpPr>
        <p:grpSpPr>
          <a:xfrm>
            <a:off x="10944511" y="1813428"/>
            <a:ext cx="1062811" cy="586928"/>
            <a:chOff x="0" y="0"/>
            <a:chExt cx="1417081" cy="782571"/>
          </a:xfrm>
        </p:grpSpPr>
        <p:sp>
          <p:nvSpPr>
            <p:cNvPr id="101" name="Freeform 101"/>
            <p:cNvSpPr/>
            <p:nvPr/>
          </p:nvSpPr>
          <p:spPr>
            <a:xfrm>
              <a:off x="0" y="0"/>
              <a:ext cx="1417132" cy="782571"/>
            </a:xfrm>
            <a:custGeom>
              <a:avLst/>
              <a:gdLst/>
              <a:ahLst/>
              <a:cxnLst/>
              <a:rect l="l" t="t" r="r" b="b"/>
              <a:pathLst>
                <a:path w="1417132" h="782571">
                  <a:moveTo>
                    <a:pt x="0" y="130428"/>
                  </a:moveTo>
                  <a:cubicBezTo>
                    <a:pt x="0" y="58420"/>
                    <a:pt x="63923" y="0"/>
                    <a:pt x="142714" y="0"/>
                  </a:cubicBezTo>
                  <a:lnTo>
                    <a:pt x="1274423" y="0"/>
                  </a:lnTo>
                  <a:cubicBezTo>
                    <a:pt x="1353214" y="0"/>
                    <a:pt x="1417132" y="58420"/>
                    <a:pt x="1417132" y="130428"/>
                  </a:cubicBezTo>
                  <a:lnTo>
                    <a:pt x="1417132" y="652142"/>
                  </a:lnTo>
                  <a:cubicBezTo>
                    <a:pt x="1417132" y="724151"/>
                    <a:pt x="1353214" y="782571"/>
                    <a:pt x="1274423" y="782571"/>
                  </a:cubicBezTo>
                  <a:lnTo>
                    <a:pt x="142714" y="782571"/>
                  </a:lnTo>
                  <a:cubicBezTo>
                    <a:pt x="63923" y="782571"/>
                    <a:pt x="0" y="724151"/>
                    <a:pt x="0" y="652142"/>
                  </a:cubicBezTo>
                  <a:close/>
                </a:path>
              </a:pathLst>
            </a:custGeom>
            <a:solidFill>
              <a:srgbClr val="FFE8E0"/>
            </a:solidFill>
            <a:ln w="13970" cap="sq">
              <a:solidFill>
                <a:srgbClr val="E12D23"/>
              </a:solidFill>
              <a:prstDash val="solid"/>
              <a:miter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02" name="TextBox 102"/>
            <p:cNvSpPr txBox="1"/>
            <p:nvPr/>
          </p:nvSpPr>
          <p:spPr>
            <a:xfrm>
              <a:off x="0" y="-9525"/>
              <a:ext cx="1417081" cy="792096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679"/>
                </a:lnSpc>
              </a:pPr>
              <a:r>
                <a:rPr lang="en-US" sz="1399">
                  <a:solidFill>
                    <a:srgbClr val="000000"/>
                  </a:solidFill>
                  <a:latin typeface="Times New Roman"/>
                  <a:ea typeface="Times New Roman"/>
                  <a:cs typeface="Times New Roman"/>
                  <a:sym typeface="Times New Roman"/>
                </a:rPr>
                <a:t>Mismatched</a:t>
              </a:r>
            </a:p>
          </p:txBody>
        </p:sp>
      </p:grpSp>
      <p:grpSp>
        <p:nvGrpSpPr>
          <p:cNvPr id="103" name="Group 103"/>
          <p:cNvGrpSpPr/>
          <p:nvPr/>
        </p:nvGrpSpPr>
        <p:grpSpPr>
          <a:xfrm>
            <a:off x="10407548" y="1116911"/>
            <a:ext cx="398897" cy="217580"/>
            <a:chOff x="0" y="0"/>
            <a:chExt cx="531863" cy="290106"/>
          </a:xfrm>
        </p:grpSpPr>
        <p:sp>
          <p:nvSpPr>
            <p:cNvPr id="104" name="Freeform 104"/>
            <p:cNvSpPr/>
            <p:nvPr/>
          </p:nvSpPr>
          <p:spPr>
            <a:xfrm>
              <a:off x="0" y="0"/>
              <a:ext cx="531860" cy="290105"/>
            </a:xfrm>
            <a:custGeom>
              <a:avLst/>
              <a:gdLst/>
              <a:ahLst/>
              <a:cxnLst/>
              <a:rect l="l" t="t" r="r" b="b"/>
              <a:pathLst>
                <a:path w="531860" h="290105">
                  <a:moveTo>
                    <a:pt x="0" y="0"/>
                  </a:moveTo>
                  <a:lnTo>
                    <a:pt x="531860" y="0"/>
                  </a:lnTo>
                  <a:lnTo>
                    <a:pt x="531860" y="290105"/>
                  </a:lnTo>
                  <a:lnTo>
                    <a:pt x="0" y="290105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-19983" r="-19984"/>
              </a:stretch>
            </a:blipFill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05" name="TextBox 105"/>
            <p:cNvSpPr txBox="1"/>
            <p:nvPr/>
          </p:nvSpPr>
          <p:spPr>
            <a:xfrm>
              <a:off x="0" y="-19050"/>
              <a:ext cx="531863" cy="309156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1560"/>
                </a:lnSpc>
              </a:pPr>
              <a:r>
                <a:rPr lang="en-US" sz="1300">
                  <a:solidFill>
                    <a:srgbClr val="000000"/>
                  </a:solidFill>
                  <a:latin typeface="Times New Roman"/>
                  <a:ea typeface="Times New Roman"/>
                  <a:cs typeface="Times New Roman"/>
                  <a:sym typeface="Times New Roman"/>
                </a:rPr>
                <a:t>Yes</a:t>
              </a:r>
            </a:p>
          </p:txBody>
        </p:sp>
      </p:grpSp>
      <p:grpSp>
        <p:nvGrpSpPr>
          <p:cNvPr id="106" name="Group 106"/>
          <p:cNvGrpSpPr/>
          <p:nvPr/>
        </p:nvGrpSpPr>
        <p:grpSpPr>
          <a:xfrm>
            <a:off x="10335016" y="1929203"/>
            <a:ext cx="398897" cy="217580"/>
            <a:chOff x="0" y="0"/>
            <a:chExt cx="531863" cy="290106"/>
          </a:xfrm>
        </p:grpSpPr>
        <p:sp>
          <p:nvSpPr>
            <p:cNvPr id="107" name="Freeform 107"/>
            <p:cNvSpPr/>
            <p:nvPr/>
          </p:nvSpPr>
          <p:spPr>
            <a:xfrm>
              <a:off x="0" y="0"/>
              <a:ext cx="531860" cy="290105"/>
            </a:xfrm>
            <a:custGeom>
              <a:avLst/>
              <a:gdLst/>
              <a:ahLst/>
              <a:cxnLst/>
              <a:rect l="l" t="t" r="r" b="b"/>
              <a:pathLst>
                <a:path w="531860" h="290105">
                  <a:moveTo>
                    <a:pt x="0" y="0"/>
                  </a:moveTo>
                  <a:lnTo>
                    <a:pt x="531860" y="0"/>
                  </a:lnTo>
                  <a:lnTo>
                    <a:pt x="531860" y="290105"/>
                  </a:lnTo>
                  <a:lnTo>
                    <a:pt x="0" y="290105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-19983" r="-19984"/>
              </a:stretch>
            </a:blipFill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08" name="TextBox 108"/>
            <p:cNvSpPr txBox="1"/>
            <p:nvPr/>
          </p:nvSpPr>
          <p:spPr>
            <a:xfrm>
              <a:off x="0" y="-19050"/>
              <a:ext cx="531863" cy="309156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1560"/>
                </a:lnSpc>
              </a:pPr>
              <a:r>
                <a:rPr lang="en-US" sz="1300">
                  <a:solidFill>
                    <a:srgbClr val="000000"/>
                  </a:solidFill>
                  <a:latin typeface="Times New Roman"/>
                  <a:ea typeface="Times New Roman"/>
                  <a:cs typeface="Times New Roman"/>
                  <a:sym typeface="Times New Roman"/>
                </a:rPr>
                <a:t>No</a:t>
              </a:r>
            </a:p>
          </p:txBody>
        </p:sp>
      </p:grpSp>
      <p:sp>
        <p:nvSpPr>
          <p:cNvPr id="109" name="AutoShape 109"/>
          <p:cNvSpPr/>
          <p:nvPr/>
        </p:nvSpPr>
        <p:spPr>
          <a:xfrm>
            <a:off x="2937320" y="1595580"/>
            <a:ext cx="972121" cy="0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none" w="sm" len="sm"/>
            <a:tailEnd type="triangle" w="lg" len="me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11" name="AutoShape 111"/>
          <p:cNvSpPr/>
          <p:nvPr/>
        </p:nvSpPr>
        <p:spPr>
          <a:xfrm>
            <a:off x="6642762" y="1581293"/>
            <a:ext cx="596039" cy="0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none" w="sm" len="sm"/>
            <a:tailEnd type="triangle" w="lg" len="me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12" name="AutoShape 112"/>
          <p:cNvSpPr/>
          <p:nvPr/>
        </p:nvSpPr>
        <p:spPr>
          <a:xfrm>
            <a:off x="7874851" y="1581293"/>
            <a:ext cx="596039" cy="0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none" w="sm" len="sm"/>
            <a:tailEnd type="triangle" w="lg" len="me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13" name="AutoShape 113"/>
          <p:cNvSpPr/>
          <p:nvPr/>
        </p:nvSpPr>
        <p:spPr>
          <a:xfrm flipV="1">
            <a:off x="10035169" y="1363494"/>
            <a:ext cx="931097" cy="246597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none" w="sm" len="sm"/>
            <a:tailEnd type="triangle" w="lg" len="me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14" name="AutoShape 114"/>
          <p:cNvSpPr/>
          <p:nvPr/>
        </p:nvSpPr>
        <p:spPr>
          <a:xfrm>
            <a:off x="10035169" y="1610092"/>
            <a:ext cx="909342" cy="496800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none" w="sm" len="sm"/>
            <a:tailEnd type="triangle" w="lg" len="me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15" name="AutoShape 115"/>
          <p:cNvSpPr/>
          <p:nvPr/>
        </p:nvSpPr>
        <p:spPr>
          <a:xfrm>
            <a:off x="515795" y="1541407"/>
            <a:ext cx="593858" cy="0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17" name="AutoShape 117"/>
          <p:cNvSpPr/>
          <p:nvPr/>
        </p:nvSpPr>
        <p:spPr>
          <a:xfrm>
            <a:off x="515795" y="3652504"/>
            <a:ext cx="980629" cy="0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none" w="sm" len="sm"/>
            <a:tailEnd type="triangle" w="lg" len="me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18" name="AutoShape 118"/>
          <p:cNvSpPr/>
          <p:nvPr/>
        </p:nvSpPr>
        <p:spPr>
          <a:xfrm>
            <a:off x="1109653" y="5448300"/>
            <a:ext cx="402580" cy="0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none" w="sm" len="sm"/>
            <a:tailEnd type="triangle" w="lg" len="me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19" name="AutoShape 119"/>
          <p:cNvSpPr/>
          <p:nvPr/>
        </p:nvSpPr>
        <p:spPr>
          <a:xfrm flipV="1">
            <a:off x="2008408" y="4910042"/>
            <a:ext cx="0" cy="308251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none" w="sm" len="sm"/>
            <a:tailEnd type="triangle" w="lg" len="me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20" name="AutoShape 120"/>
          <p:cNvSpPr/>
          <p:nvPr/>
        </p:nvSpPr>
        <p:spPr>
          <a:xfrm>
            <a:off x="2428094" y="3661520"/>
            <a:ext cx="1132274" cy="0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none" w="sm" len="sm"/>
            <a:tailEnd type="triangle" w="lg" len="me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21" name="AutoShape 121"/>
          <p:cNvSpPr/>
          <p:nvPr/>
        </p:nvSpPr>
        <p:spPr>
          <a:xfrm>
            <a:off x="2487387" y="4707303"/>
            <a:ext cx="1132274" cy="0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none" w="sm" len="sm"/>
            <a:tailEnd type="triangle" w="lg" len="me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22" name="AutoShape 122"/>
          <p:cNvSpPr/>
          <p:nvPr/>
        </p:nvSpPr>
        <p:spPr>
          <a:xfrm>
            <a:off x="4767590" y="3690095"/>
            <a:ext cx="678772" cy="0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none" w="sm" len="sm"/>
            <a:tailEnd type="triangle" w="lg" len="me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23" name="AutoShape 123"/>
          <p:cNvSpPr/>
          <p:nvPr/>
        </p:nvSpPr>
        <p:spPr>
          <a:xfrm>
            <a:off x="4767590" y="4753889"/>
            <a:ext cx="678772" cy="0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none" w="sm" len="sm"/>
            <a:tailEnd type="triangle" w="lg" len="me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24" name="AutoShape 124"/>
          <p:cNvSpPr/>
          <p:nvPr/>
        </p:nvSpPr>
        <p:spPr>
          <a:xfrm>
            <a:off x="6642762" y="3741634"/>
            <a:ext cx="293372" cy="0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none" w="sm" len="sm"/>
            <a:tailEnd type="triangle" w="lg" len="me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25" name="AutoShape 125"/>
          <p:cNvSpPr/>
          <p:nvPr/>
        </p:nvSpPr>
        <p:spPr>
          <a:xfrm>
            <a:off x="6642762" y="4805115"/>
            <a:ext cx="293372" cy="0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none" w="sm" len="sm"/>
            <a:tailEnd type="triangle" w="lg" len="me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26" name="AutoShape 126"/>
          <p:cNvSpPr/>
          <p:nvPr/>
        </p:nvSpPr>
        <p:spPr>
          <a:xfrm>
            <a:off x="8223614" y="3755922"/>
            <a:ext cx="678772" cy="0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none" w="sm" len="sm"/>
            <a:tailEnd type="triangle" w="lg" len="me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27" name="AutoShape 127"/>
          <p:cNvSpPr/>
          <p:nvPr/>
        </p:nvSpPr>
        <p:spPr>
          <a:xfrm>
            <a:off x="8192214" y="4805115"/>
            <a:ext cx="678772" cy="0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none" w="sm" len="sm"/>
            <a:tailEnd type="triangle" w="lg" len="med"/>
          </a:ln>
        </p:spPr>
        <p:txBody>
          <a:bodyPr/>
          <a:lstStyle/>
          <a:p>
            <a:endParaRPr lang="zh-TW" altLang="en-US"/>
          </a:p>
        </p:txBody>
      </p:sp>
      <p:grpSp>
        <p:nvGrpSpPr>
          <p:cNvPr id="128" name="Group 128"/>
          <p:cNvGrpSpPr/>
          <p:nvPr/>
        </p:nvGrpSpPr>
        <p:grpSpPr>
          <a:xfrm>
            <a:off x="10212588" y="3833746"/>
            <a:ext cx="684779" cy="281745"/>
            <a:chOff x="0" y="0"/>
            <a:chExt cx="913038" cy="375660"/>
          </a:xfrm>
        </p:grpSpPr>
        <p:sp>
          <p:nvSpPr>
            <p:cNvPr id="129" name="AutoShape 129"/>
            <p:cNvSpPr/>
            <p:nvPr/>
          </p:nvSpPr>
          <p:spPr>
            <a:xfrm>
              <a:off x="0" y="19050"/>
              <a:ext cx="429168" cy="0"/>
            </a:xfrm>
            <a:prstGeom prst="line">
              <a:avLst/>
            </a:prstGeom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30" name="AutoShape 130"/>
            <p:cNvSpPr/>
            <p:nvPr/>
          </p:nvSpPr>
          <p:spPr>
            <a:xfrm flipH="1">
              <a:off x="409787" y="19050"/>
              <a:ext cx="0" cy="337560"/>
            </a:xfrm>
            <a:prstGeom prst="line">
              <a:avLst/>
            </a:prstGeom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31" name="AutoShape 131"/>
            <p:cNvSpPr/>
            <p:nvPr/>
          </p:nvSpPr>
          <p:spPr>
            <a:xfrm>
              <a:off x="388528" y="356610"/>
              <a:ext cx="524510" cy="0"/>
            </a:xfrm>
            <a:prstGeom prst="line">
              <a:avLst/>
            </a:prstGeom>
            <a:ln w="38100" cap="flat">
              <a:solidFill>
                <a:srgbClr val="000000"/>
              </a:solidFill>
              <a:prstDash val="solid"/>
              <a:headEnd type="none" w="sm" len="sm"/>
              <a:tailEnd type="triangle" w="lg" len="med"/>
            </a:ln>
          </p:spPr>
          <p:txBody>
            <a:bodyPr/>
            <a:lstStyle/>
            <a:p>
              <a:endParaRPr lang="zh-TW" altLang="en-US"/>
            </a:p>
          </p:txBody>
        </p:sp>
      </p:grpSp>
      <p:grpSp>
        <p:nvGrpSpPr>
          <p:cNvPr id="132" name="Group 132"/>
          <p:cNvGrpSpPr/>
          <p:nvPr/>
        </p:nvGrpSpPr>
        <p:grpSpPr>
          <a:xfrm>
            <a:off x="10212588" y="4472988"/>
            <a:ext cx="655852" cy="403003"/>
            <a:chOff x="0" y="0"/>
            <a:chExt cx="874470" cy="537337"/>
          </a:xfrm>
        </p:grpSpPr>
        <p:sp>
          <p:nvSpPr>
            <p:cNvPr id="133" name="AutoShape 133"/>
            <p:cNvSpPr/>
            <p:nvPr/>
          </p:nvSpPr>
          <p:spPr>
            <a:xfrm>
              <a:off x="0" y="518287"/>
              <a:ext cx="429168" cy="0"/>
            </a:xfrm>
            <a:prstGeom prst="line">
              <a:avLst/>
            </a:prstGeom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34" name="AutoShape 134"/>
            <p:cNvSpPr/>
            <p:nvPr/>
          </p:nvSpPr>
          <p:spPr>
            <a:xfrm>
              <a:off x="409787" y="19050"/>
              <a:ext cx="0" cy="499217"/>
            </a:xfrm>
            <a:prstGeom prst="line">
              <a:avLst/>
            </a:prstGeom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35" name="AutoShape 135"/>
            <p:cNvSpPr/>
            <p:nvPr/>
          </p:nvSpPr>
          <p:spPr>
            <a:xfrm>
              <a:off x="381555" y="19050"/>
              <a:ext cx="492915" cy="0"/>
            </a:xfrm>
            <a:prstGeom prst="line">
              <a:avLst/>
            </a:prstGeom>
            <a:ln w="38100" cap="flat">
              <a:solidFill>
                <a:srgbClr val="000000"/>
              </a:solidFill>
              <a:prstDash val="solid"/>
              <a:headEnd type="none" w="sm" len="sm"/>
              <a:tailEnd type="triangle" w="lg" len="med"/>
            </a:ln>
          </p:spPr>
          <p:txBody>
            <a:bodyPr/>
            <a:lstStyle/>
            <a:p>
              <a:endParaRPr lang="zh-TW" altLang="en-US"/>
            </a:p>
          </p:txBody>
        </p:sp>
      </p:grpSp>
      <p:sp>
        <p:nvSpPr>
          <p:cNvPr id="136" name="AutoShape 136"/>
          <p:cNvSpPr/>
          <p:nvPr/>
        </p:nvSpPr>
        <p:spPr>
          <a:xfrm>
            <a:off x="11437979" y="2740638"/>
            <a:ext cx="1" cy="1122136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37" name="AutoShape 137"/>
          <p:cNvSpPr/>
          <p:nvPr/>
        </p:nvSpPr>
        <p:spPr>
          <a:xfrm flipV="1">
            <a:off x="7524617" y="2740638"/>
            <a:ext cx="3913364" cy="14288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38" name="AutoShape 138"/>
          <p:cNvSpPr/>
          <p:nvPr/>
        </p:nvSpPr>
        <p:spPr>
          <a:xfrm flipH="1" flipV="1">
            <a:off x="7524617" y="1795455"/>
            <a:ext cx="7144" cy="952327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none" w="sm" len="sm"/>
            <a:tailEnd type="triangle" w="lg" len="med"/>
          </a:ln>
        </p:spPr>
        <p:txBody>
          <a:bodyPr/>
          <a:lstStyle/>
          <a:p>
            <a:endParaRPr lang="zh-TW" altLang="en-US"/>
          </a:p>
        </p:txBody>
      </p:sp>
      <p:cxnSp>
        <p:nvCxnSpPr>
          <p:cNvPr id="140" name="直線接點 139">
            <a:extLst>
              <a:ext uri="{FF2B5EF4-FFF2-40B4-BE49-F238E27FC236}">
                <a16:creationId xmlns:a16="http://schemas.microsoft.com/office/drawing/2014/main" id="{8DEC9572-A31F-EED3-CF32-10AD68F7859C}"/>
              </a:ext>
            </a:extLst>
          </p:cNvPr>
          <p:cNvCxnSpPr>
            <a:stCxn id="115" idx="0"/>
          </p:cNvCxnSpPr>
          <p:nvPr/>
        </p:nvCxnSpPr>
        <p:spPr>
          <a:xfrm>
            <a:off x="515795" y="1541407"/>
            <a:ext cx="0" cy="2120113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1" name="AutoShape 111">
            <a:extLst>
              <a:ext uri="{FF2B5EF4-FFF2-40B4-BE49-F238E27FC236}">
                <a16:creationId xmlns:a16="http://schemas.microsoft.com/office/drawing/2014/main" id="{EA640E07-5945-4A63-18D3-33A57D3002D8}"/>
              </a:ext>
            </a:extLst>
          </p:cNvPr>
          <p:cNvSpPr/>
          <p:nvPr/>
        </p:nvSpPr>
        <p:spPr>
          <a:xfrm>
            <a:off x="5016500" y="1581293"/>
            <a:ext cx="596039" cy="0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none" w="sm" len="sm"/>
            <a:tailEnd type="triangle" w="lg" len="me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42" name="TextBox 6">
            <a:extLst>
              <a:ext uri="{FF2B5EF4-FFF2-40B4-BE49-F238E27FC236}">
                <a16:creationId xmlns:a16="http://schemas.microsoft.com/office/drawing/2014/main" id="{9D570FB0-9FD8-EC6F-6B0C-16A4DA78381C}"/>
              </a:ext>
            </a:extLst>
          </p:cNvPr>
          <p:cNvSpPr txBox="1"/>
          <p:nvPr/>
        </p:nvSpPr>
        <p:spPr>
          <a:xfrm>
            <a:off x="203073" y="3690095"/>
            <a:ext cx="1813160" cy="268128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algn="l">
              <a:lnSpc>
                <a:spcPts val="1920"/>
              </a:lnSpc>
            </a:pPr>
            <a:r>
              <a:rPr lang="en-US" sz="1600" dirty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Object </a:t>
            </a:r>
            <a:r>
              <a:rPr lang="en-US" sz="1600" dirty="0" err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bbox</a:t>
            </a:r>
            <a:endParaRPr lang="en-US" sz="1600" dirty="0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cxnSp>
        <p:nvCxnSpPr>
          <p:cNvPr id="94" name="直線接點 93">
            <a:extLst>
              <a:ext uri="{FF2B5EF4-FFF2-40B4-BE49-F238E27FC236}">
                <a16:creationId xmlns:a16="http://schemas.microsoft.com/office/drawing/2014/main" id="{C3BD8183-B360-FF7E-4854-90452BC6C354}"/>
              </a:ext>
            </a:extLst>
          </p:cNvPr>
          <p:cNvCxnSpPr>
            <a:cxnSpLocks/>
          </p:cNvCxnSpPr>
          <p:nvPr/>
        </p:nvCxnSpPr>
        <p:spPr>
          <a:xfrm>
            <a:off x="4406900" y="2106892"/>
            <a:ext cx="0" cy="979208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0" name="AutoShape 115">
            <a:extLst>
              <a:ext uri="{FF2B5EF4-FFF2-40B4-BE49-F238E27FC236}">
                <a16:creationId xmlns:a16="http://schemas.microsoft.com/office/drawing/2014/main" id="{90929B26-1FB7-91BB-8D18-E1658CBCDBEF}"/>
              </a:ext>
            </a:extLst>
          </p:cNvPr>
          <p:cNvSpPr/>
          <p:nvPr/>
        </p:nvSpPr>
        <p:spPr>
          <a:xfrm>
            <a:off x="1892300" y="3086100"/>
            <a:ext cx="2514600" cy="0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16" name="AutoShape 109">
            <a:extLst>
              <a:ext uri="{FF2B5EF4-FFF2-40B4-BE49-F238E27FC236}">
                <a16:creationId xmlns:a16="http://schemas.microsoft.com/office/drawing/2014/main" id="{18FB0349-679D-38F4-D226-B60DF830789F}"/>
              </a:ext>
            </a:extLst>
          </p:cNvPr>
          <p:cNvSpPr/>
          <p:nvPr/>
        </p:nvSpPr>
        <p:spPr>
          <a:xfrm>
            <a:off x="1892300" y="3086117"/>
            <a:ext cx="0" cy="380983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none" w="sm" len="sm"/>
            <a:tailEnd type="triangle" w="lg" len="med"/>
          </a:ln>
        </p:spPr>
        <p:txBody>
          <a:bodyPr/>
          <a:lstStyle/>
          <a:p>
            <a:endParaRPr lang="zh-TW" altLang="en-US"/>
          </a:p>
        </p:txBody>
      </p:sp>
      <p:grpSp>
        <p:nvGrpSpPr>
          <p:cNvPr id="139" name="Group 7">
            <a:extLst>
              <a:ext uri="{FF2B5EF4-FFF2-40B4-BE49-F238E27FC236}">
                <a16:creationId xmlns:a16="http://schemas.microsoft.com/office/drawing/2014/main" id="{EA962500-DCE8-6AF3-21B7-E4CA7A8F311F}"/>
              </a:ext>
            </a:extLst>
          </p:cNvPr>
          <p:cNvGrpSpPr/>
          <p:nvPr/>
        </p:nvGrpSpPr>
        <p:grpSpPr>
          <a:xfrm>
            <a:off x="5509862" y="1086628"/>
            <a:ext cx="1370479" cy="436871"/>
            <a:chOff x="-183373" y="-194765"/>
            <a:chExt cx="1827305" cy="582494"/>
          </a:xfrm>
        </p:grpSpPr>
        <p:sp>
          <p:nvSpPr>
            <p:cNvPr id="143" name="Freeform 8">
              <a:extLst>
                <a:ext uri="{FF2B5EF4-FFF2-40B4-BE49-F238E27FC236}">
                  <a16:creationId xmlns:a16="http://schemas.microsoft.com/office/drawing/2014/main" id="{F877EE3F-6A5A-0BDC-D9E3-BA6A682EB535}"/>
                </a:ext>
              </a:extLst>
            </p:cNvPr>
            <p:cNvSpPr/>
            <p:nvPr/>
          </p:nvSpPr>
          <p:spPr>
            <a:xfrm>
              <a:off x="0" y="0"/>
              <a:ext cx="1643932" cy="387729"/>
            </a:xfrm>
            <a:custGeom>
              <a:avLst/>
              <a:gdLst/>
              <a:ahLst/>
              <a:cxnLst/>
              <a:rect l="l" t="t" r="r" b="b"/>
              <a:pathLst>
                <a:path w="1643932" h="387729">
                  <a:moveTo>
                    <a:pt x="0" y="0"/>
                  </a:moveTo>
                  <a:lnTo>
                    <a:pt x="1643932" y="0"/>
                  </a:lnTo>
                  <a:lnTo>
                    <a:pt x="1643932" y="387729"/>
                  </a:lnTo>
                  <a:lnTo>
                    <a:pt x="0" y="387729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t="-45203" b="-20025"/>
              </a:stretch>
            </a:blipFill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44" name="TextBox 9">
              <a:extLst>
                <a:ext uri="{FF2B5EF4-FFF2-40B4-BE49-F238E27FC236}">
                  <a16:creationId xmlns:a16="http://schemas.microsoft.com/office/drawing/2014/main" id="{954B31C9-25AD-F5C7-848C-4993AD08FE52}"/>
                </a:ext>
              </a:extLst>
            </p:cNvPr>
            <p:cNvSpPr txBox="1"/>
            <p:nvPr/>
          </p:nvSpPr>
          <p:spPr>
            <a:xfrm>
              <a:off x="-183373" y="-194765"/>
              <a:ext cx="1643926" cy="39725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1679"/>
                </a:lnSpc>
              </a:pPr>
              <a:r>
                <a:rPr lang="en-US" sz="1399" dirty="0">
                  <a:solidFill>
                    <a:srgbClr val="000000"/>
                  </a:solidFill>
                  <a:latin typeface="Times New Roman"/>
                  <a:ea typeface="Times New Roman"/>
                  <a:cs typeface="Times New Roman"/>
                  <a:sym typeface="Times New Roman"/>
                </a:rPr>
                <a:t>Cosine similarity</a:t>
              </a:r>
            </a:p>
          </p:txBody>
        </p:sp>
      </p:grp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</TotalTime>
  <Words>66</Words>
  <Application>Microsoft Macintosh PowerPoint</Application>
  <PresentationFormat>自訂</PresentationFormat>
  <Paragraphs>33</Paragraphs>
  <Slides>1</Slides>
  <Notes>1</Notes>
  <HiddenSlides>0</HiddenSlides>
  <MMClips>0</MMClips>
  <ScaleCrop>false</ScaleCrop>
  <HeadingPairs>
    <vt:vector size="6" baseType="variant">
      <vt:variant>
        <vt:lpstr>使用字型</vt:lpstr>
      </vt:variant>
      <vt:variant>
        <vt:i4>5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1</vt:i4>
      </vt:variant>
    </vt:vector>
  </HeadingPairs>
  <TitlesOfParts>
    <vt:vector size="7" baseType="lpstr">
      <vt:lpstr>Aptos</vt:lpstr>
      <vt:lpstr>Arial</vt:lpstr>
      <vt:lpstr>Times New Roman</vt:lpstr>
      <vt:lpstr>Times New Roman Bold</vt:lpstr>
      <vt:lpstr>Calibri</vt:lpstr>
      <vt:lpstr>Office Theme</vt:lpstr>
      <vt:lpstr>PowerPoint 簡報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GMC-Link Architecture</dc:title>
  <cp:lastModifiedBy>王駿愷</cp:lastModifiedBy>
  <cp:revision>3</cp:revision>
  <dcterms:created xsi:type="dcterms:W3CDTF">2006-08-16T00:00:00Z</dcterms:created>
  <dcterms:modified xsi:type="dcterms:W3CDTF">2026-08-11T16:08:49Z</dcterms:modified>
  <dc:identifier>DAHRw5EqtU4</dc:identifier>
</cp:coreProperties>
</file>
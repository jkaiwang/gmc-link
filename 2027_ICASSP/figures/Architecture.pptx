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130"/>
  </p:normalViewPr>
  <p:slideViewPr>
    <p:cSldViewPr snapToGrid="0" snapToObjects="1">
      <p:cViewPr>
        <p:scale>
          <a:sx n="90" d="100"/>
          <a:sy n="90" d="100"/>
        </p:scale>
        <p:origin x="696" y="-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14967" y="3095224"/>
            <a:ext cx="8598829" cy="2360216"/>
          </a:xfrm>
          <a:prstGeom prst="rect">
            <a:avLst/>
          </a:prstGeom>
          <a:noFill/>
          <a:ln w="15798">
            <a:solidFill>
              <a:srgbClr val="1E1E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43475" y="5140312"/>
            <a:ext cx="1126912" cy="2296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92" dirty="0">
                <a:solidFill>
                  <a:srgbClr val="1E1E1E"/>
                </a:solidFill>
                <a:latin typeface="Nunito"/>
              </a:rPr>
              <a:t>GMC</a:t>
            </a:r>
            <a:r>
              <a:rPr lang="zh-TW" altLang="en-US" sz="1492" dirty="0">
                <a:solidFill>
                  <a:srgbClr val="1E1E1E"/>
                </a:solidFill>
                <a:latin typeface="Nunito"/>
              </a:rPr>
              <a:t> </a:t>
            </a:r>
            <a:r>
              <a:rPr lang="en-US" altLang="zh-TW" sz="1492" dirty="0">
                <a:solidFill>
                  <a:srgbClr val="1E1E1E"/>
                </a:solidFill>
                <a:latin typeface="Nunito"/>
              </a:rPr>
              <a:t>m</a:t>
            </a:r>
            <a:r>
              <a:rPr sz="1492" dirty="0">
                <a:solidFill>
                  <a:srgbClr val="1E1E1E"/>
                </a:solidFill>
                <a:latin typeface="Nunito"/>
              </a:rPr>
              <a:t>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7868" y="1299436"/>
            <a:ext cx="1250416" cy="1843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1">
                <a:solidFill>
                  <a:srgbClr val="1E1E1E"/>
                </a:solidFill>
                <a:latin typeface="Helvetica"/>
              </a:rPr>
              <a:t>Raw Video Frames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52" y="1578547"/>
            <a:ext cx="1200703" cy="14324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72948" y="1789196"/>
            <a:ext cx="1032183" cy="674079"/>
          </a:xfrm>
          <a:prstGeom prst="roundRect">
            <a:avLst/>
          </a:prstGeom>
          <a:solidFill>
            <a:srgbClr val="E0E7F3"/>
          </a:solidFill>
          <a:ln w="15798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43">
                <a:solidFill>
                  <a:srgbClr val="1E1E1E"/>
                </a:solidFill>
                <a:latin typeface="Helvetica"/>
              </a:rPr>
              <a:t>iKUN Model</a:t>
            </a:r>
          </a:p>
        </p:txBody>
      </p:sp>
      <p:sp>
        <p:nvSpPr>
          <p:cNvPr id="8" name="Diamond 7"/>
          <p:cNvSpPr/>
          <p:nvPr/>
        </p:nvSpPr>
        <p:spPr>
          <a:xfrm>
            <a:off x="7533163" y="1736534"/>
            <a:ext cx="2053834" cy="1053248"/>
          </a:xfrm>
          <a:prstGeom prst="diamond">
            <a:avLst/>
          </a:prstGeom>
          <a:solidFill>
            <a:srgbClr val="E8ECE4"/>
          </a:solidFill>
          <a:ln w="15798">
            <a:solidFill>
              <a:srgbClr val="6F7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7487" y="2164416"/>
            <a:ext cx="1665185" cy="1974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43">
                <a:solidFill>
                  <a:srgbClr val="1E1E1E"/>
                </a:solidFill>
                <a:latin typeface="Helvetica"/>
              </a:rPr>
              <a:t>final_score &gt; 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7236" y="1647008"/>
            <a:ext cx="217706" cy="171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8">
                <a:solidFill>
                  <a:srgbClr val="1E1E1E"/>
                </a:solidFill>
                <a:latin typeface="Helvetic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0373" y="2637061"/>
            <a:ext cx="145137" cy="171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8">
                <a:solidFill>
                  <a:srgbClr val="1E1E1E"/>
                </a:solidFill>
                <a:latin typeface="Helvetica"/>
              </a:rPr>
              <a:t>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92205" y="1583813"/>
            <a:ext cx="921592" cy="589819"/>
          </a:xfrm>
          <a:prstGeom prst="roundRect">
            <a:avLst/>
          </a:prstGeom>
          <a:solidFill>
            <a:srgbClr val="E3EDE1"/>
          </a:solidFill>
          <a:ln w="15798">
            <a:solidFill>
              <a:srgbClr val="5B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Matched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92205" y="2368483"/>
            <a:ext cx="921592" cy="589819"/>
          </a:xfrm>
          <a:prstGeom prst="roundRect">
            <a:avLst/>
          </a:prstGeom>
          <a:solidFill>
            <a:srgbClr val="F9DFDF"/>
          </a:solidFill>
          <a:ln w="15798">
            <a:solidFill>
              <a:srgbClr val="C2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Mismatched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2967" y="3774035"/>
            <a:ext cx="1233669" cy="171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8">
                <a:solidFill>
                  <a:srgbClr val="1E1E1E"/>
                </a:solidFill>
                <a:latin typeface="Helvetica"/>
              </a:rPr>
              <a:t>12D Motion Vector</a:t>
            </a:r>
          </a:p>
        </p:txBody>
      </p:sp>
      <p:sp>
        <p:nvSpPr>
          <p:cNvPr id="15" name="Freeform 14"/>
          <p:cNvSpPr/>
          <p:nvPr/>
        </p:nvSpPr>
        <p:spPr>
          <a:xfrm>
            <a:off x="2714551" y="3416465"/>
            <a:ext cx="84260" cy="294910"/>
          </a:xfrm>
          <a:custGeom>
            <a:avLst/>
            <a:gdLst/>
            <a:ahLst/>
            <a:cxnLst/>
            <a:rect l="l" t="t" r="r" b="b"/>
            <a:pathLst>
              <a:path w="84260" h="294910">
                <a:moveTo>
                  <a:pt x="0" y="84260"/>
                </a:moveTo>
                <a:lnTo>
                  <a:pt x="84260" y="0"/>
                </a:lnTo>
                <a:lnTo>
                  <a:pt x="84260" y="210650"/>
                </a:lnTo>
                <a:lnTo>
                  <a:pt x="0" y="29491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2461771" y="3416465"/>
            <a:ext cx="337040" cy="84260"/>
          </a:xfrm>
          <a:custGeom>
            <a:avLst/>
            <a:gdLst/>
            <a:ahLst/>
            <a:cxnLst/>
            <a:rect l="l" t="t" r="r" b="b"/>
            <a:pathLst>
              <a:path w="337040" h="84260">
                <a:moveTo>
                  <a:pt x="0" y="84260"/>
                </a:moveTo>
                <a:lnTo>
                  <a:pt x="84260" y="0"/>
                </a:lnTo>
                <a:lnTo>
                  <a:pt x="337040" y="0"/>
                </a:lnTo>
                <a:lnTo>
                  <a:pt x="252780" y="8426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1771" y="3500725"/>
            <a:ext cx="252779" cy="210649"/>
          </a:xfrm>
          <a:prstGeom prst="rect">
            <a:avLst/>
          </a:prstGeom>
          <a:solidFill>
            <a:srgbClr val="F5EEE0"/>
          </a:solidFill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557150" y="3279543"/>
            <a:ext cx="1032183" cy="663546"/>
          </a:xfrm>
          <a:prstGeom prst="roundRect">
            <a:avLst/>
          </a:prstGeom>
          <a:solidFill>
            <a:srgbClr val="E0E7F3"/>
          </a:solidFill>
          <a:ln w="15798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Motion</a:t>
            </a:r>
          </a:p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Projector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8976" y="3263744"/>
            <a:ext cx="1255998" cy="1645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6">
                <a:solidFill>
                  <a:srgbClr val="1E1E1E"/>
                </a:solidFill>
                <a:latin typeface="Helvetica"/>
              </a:rPr>
              <a:t>256D Motion Vector</a:t>
            </a:r>
          </a:p>
        </p:txBody>
      </p:sp>
      <p:sp>
        <p:nvSpPr>
          <p:cNvPr id="20" name="Freeform 19"/>
          <p:cNvSpPr/>
          <p:nvPr/>
        </p:nvSpPr>
        <p:spPr>
          <a:xfrm>
            <a:off x="5953290" y="3416465"/>
            <a:ext cx="84260" cy="294910"/>
          </a:xfrm>
          <a:custGeom>
            <a:avLst/>
            <a:gdLst/>
            <a:ahLst/>
            <a:cxnLst/>
            <a:rect l="l" t="t" r="r" b="b"/>
            <a:pathLst>
              <a:path w="84260" h="294910">
                <a:moveTo>
                  <a:pt x="0" y="84260"/>
                </a:moveTo>
                <a:lnTo>
                  <a:pt x="84260" y="0"/>
                </a:lnTo>
                <a:lnTo>
                  <a:pt x="84260" y="210650"/>
                </a:lnTo>
                <a:lnTo>
                  <a:pt x="0" y="29491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4926373" y="3416465"/>
            <a:ext cx="1111177" cy="84260"/>
          </a:xfrm>
          <a:custGeom>
            <a:avLst/>
            <a:gdLst/>
            <a:ahLst/>
            <a:cxnLst/>
            <a:rect l="l" t="t" r="r" b="b"/>
            <a:pathLst>
              <a:path w="1111177" h="84260">
                <a:moveTo>
                  <a:pt x="0" y="84260"/>
                </a:moveTo>
                <a:lnTo>
                  <a:pt x="84259" y="0"/>
                </a:lnTo>
                <a:lnTo>
                  <a:pt x="1111177" y="0"/>
                </a:lnTo>
                <a:lnTo>
                  <a:pt x="1026917" y="8426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26373" y="3500725"/>
            <a:ext cx="1026917" cy="210649"/>
          </a:xfrm>
          <a:prstGeom prst="rect">
            <a:avLst/>
          </a:prstGeom>
          <a:solidFill>
            <a:srgbClr val="F5EEE0"/>
          </a:solidFill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77277" y="4106343"/>
            <a:ext cx="1088532" cy="171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8">
                <a:solidFill>
                  <a:srgbClr val="1E1E1E"/>
                </a:solidFill>
                <a:latin typeface="Helvetica"/>
              </a:rPr>
              <a:t>384D Embeddings</a:t>
            </a:r>
          </a:p>
        </p:txBody>
      </p:sp>
      <p:sp>
        <p:nvSpPr>
          <p:cNvPr id="24" name="Freeform 23"/>
          <p:cNvSpPr/>
          <p:nvPr/>
        </p:nvSpPr>
        <p:spPr>
          <a:xfrm>
            <a:off x="3135850" y="4259064"/>
            <a:ext cx="84260" cy="305442"/>
          </a:xfrm>
          <a:custGeom>
            <a:avLst/>
            <a:gdLst/>
            <a:ahLst/>
            <a:cxnLst/>
            <a:rect l="l" t="t" r="r" b="b"/>
            <a:pathLst>
              <a:path w="84260" h="305442">
                <a:moveTo>
                  <a:pt x="0" y="84260"/>
                </a:moveTo>
                <a:lnTo>
                  <a:pt x="84260" y="0"/>
                </a:lnTo>
                <a:lnTo>
                  <a:pt x="84260" y="221182"/>
                </a:lnTo>
                <a:lnTo>
                  <a:pt x="0" y="305442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1871952" y="4259064"/>
            <a:ext cx="1348158" cy="84260"/>
          </a:xfrm>
          <a:custGeom>
            <a:avLst/>
            <a:gdLst/>
            <a:ahLst/>
            <a:cxnLst/>
            <a:rect l="l" t="t" r="r" b="b"/>
            <a:pathLst>
              <a:path w="1348158" h="84260">
                <a:moveTo>
                  <a:pt x="0" y="84260"/>
                </a:moveTo>
                <a:lnTo>
                  <a:pt x="84260" y="0"/>
                </a:lnTo>
                <a:lnTo>
                  <a:pt x="1348158" y="0"/>
                </a:lnTo>
                <a:lnTo>
                  <a:pt x="1263898" y="8426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71952" y="4343324"/>
            <a:ext cx="1263898" cy="221182"/>
          </a:xfrm>
          <a:prstGeom prst="rect">
            <a:avLst/>
          </a:prstGeom>
          <a:solidFill>
            <a:srgbClr val="F5EEE0"/>
          </a:solidFill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57150" y="4195869"/>
            <a:ext cx="1032183" cy="663546"/>
          </a:xfrm>
          <a:prstGeom prst="roundRect">
            <a:avLst/>
          </a:prstGeom>
          <a:solidFill>
            <a:srgbClr val="E0E7F3"/>
          </a:solidFill>
          <a:ln w="15798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Language</a:t>
            </a:r>
          </a:p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Projector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911" y="4222200"/>
            <a:ext cx="1346903" cy="1645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6">
                <a:solidFill>
                  <a:srgbClr val="1E1E1E"/>
                </a:solidFill>
                <a:latin typeface="Helvetica"/>
              </a:rPr>
              <a:t>256D Language Vector</a:t>
            </a:r>
          </a:p>
        </p:txBody>
      </p:sp>
      <p:sp>
        <p:nvSpPr>
          <p:cNvPr id="29" name="Freeform 28"/>
          <p:cNvSpPr/>
          <p:nvPr/>
        </p:nvSpPr>
        <p:spPr>
          <a:xfrm>
            <a:off x="5953290" y="4390720"/>
            <a:ext cx="84260" cy="294910"/>
          </a:xfrm>
          <a:custGeom>
            <a:avLst/>
            <a:gdLst/>
            <a:ahLst/>
            <a:cxnLst/>
            <a:rect l="l" t="t" r="r" b="b"/>
            <a:pathLst>
              <a:path w="84260" h="294910">
                <a:moveTo>
                  <a:pt x="0" y="84260"/>
                </a:moveTo>
                <a:lnTo>
                  <a:pt x="84260" y="0"/>
                </a:lnTo>
                <a:lnTo>
                  <a:pt x="84260" y="210650"/>
                </a:lnTo>
                <a:lnTo>
                  <a:pt x="0" y="29491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4926373" y="4390720"/>
            <a:ext cx="1111177" cy="84260"/>
          </a:xfrm>
          <a:custGeom>
            <a:avLst/>
            <a:gdLst/>
            <a:ahLst/>
            <a:cxnLst/>
            <a:rect l="l" t="t" r="r" b="b"/>
            <a:pathLst>
              <a:path w="1111177" h="84260">
                <a:moveTo>
                  <a:pt x="0" y="84260"/>
                </a:moveTo>
                <a:lnTo>
                  <a:pt x="84259" y="0"/>
                </a:lnTo>
                <a:lnTo>
                  <a:pt x="1111177" y="0"/>
                </a:lnTo>
                <a:lnTo>
                  <a:pt x="1026917" y="8426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26373" y="4474980"/>
            <a:ext cx="1026917" cy="210649"/>
          </a:xfrm>
          <a:prstGeom prst="rect">
            <a:avLst/>
          </a:prstGeom>
          <a:solidFill>
            <a:srgbClr val="F5EEE0"/>
          </a:solidFill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48258" y="3342738"/>
            <a:ext cx="631770" cy="1527210"/>
          </a:xfrm>
          <a:prstGeom prst="roundRect">
            <a:avLst/>
          </a:prstGeom>
          <a:solidFill>
            <a:srgbClr val="E0E7F3"/>
          </a:solidFill>
          <a:ln w="15798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78">
                <a:solidFill>
                  <a:srgbClr val="1E1E1E"/>
                </a:solidFill>
                <a:latin typeface="Helvetica"/>
              </a:rPr>
              <a:t>Shared</a:t>
            </a:r>
          </a:p>
          <a:p>
            <a:pPr algn="ctr"/>
            <a:r>
              <a:rPr sz="1078">
                <a:solidFill>
                  <a:srgbClr val="1E1E1E"/>
                </a:solidFill>
                <a:latin typeface="Helvetica"/>
              </a:rPr>
              <a:t>Weight</a:t>
            </a:r>
          </a:p>
          <a:p>
            <a:pPr algn="ctr"/>
            <a:r>
              <a:rPr sz="1078">
                <a:solidFill>
                  <a:srgbClr val="1E1E1E"/>
                </a:solidFill>
                <a:latin typeface="Helvetica"/>
              </a:rPr>
              <a:t>MLP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8299" y="3806501"/>
            <a:ext cx="800468" cy="505559"/>
          </a:xfrm>
          <a:prstGeom prst="roundRect">
            <a:avLst/>
          </a:prstGeom>
          <a:solidFill>
            <a:srgbClr val="E6DCC6"/>
          </a:solidFill>
          <a:ln w="15798">
            <a:solidFill>
              <a:srgbClr val="9C8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36">
                <a:solidFill>
                  <a:srgbClr val="1E1E1E"/>
                </a:solidFill>
                <a:latin typeface="Helvetica"/>
              </a:rPr>
              <a:t>Cosine</a:t>
            </a:r>
          </a:p>
          <a:p>
            <a:pPr algn="ctr"/>
            <a:r>
              <a:rPr sz="1036">
                <a:solidFill>
                  <a:srgbClr val="1E1E1E"/>
                </a:solidFill>
                <a:latin typeface="Helvetica"/>
              </a:rPr>
              <a:t>Similarity</a:t>
            </a:r>
          </a:p>
        </p:txBody>
      </p:sp>
      <p:sp>
        <p:nvSpPr>
          <p:cNvPr id="34" name="Freeform 33"/>
          <p:cNvSpPr/>
          <p:nvPr/>
        </p:nvSpPr>
        <p:spPr>
          <a:xfrm>
            <a:off x="2151063" y="4869948"/>
            <a:ext cx="842599" cy="484494"/>
          </a:xfrm>
          <a:custGeom>
            <a:avLst/>
            <a:gdLst/>
            <a:ahLst/>
            <a:cxnLst/>
            <a:rect l="l" t="t" r="r" b="b"/>
            <a:pathLst>
              <a:path w="842599" h="484494">
                <a:moveTo>
                  <a:pt x="105325" y="0"/>
                </a:moveTo>
                <a:lnTo>
                  <a:pt x="737274" y="0"/>
                </a:lnTo>
                <a:lnTo>
                  <a:pt x="842599" y="484494"/>
                </a:lnTo>
                <a:lnTo>
                  <a:pt x="0" y="484494"/>
                </a:lnTo>
                <a:lnTo>
                  <a:pt x="105325" y="0"/>
                </a:lnTo>
              </a:path>
            </a:pathLst>
          </a:custGeom>
          <a:noFill/>
          <a:ln w="15798">
            <a:solidFill>
              <a:srgbClr val="5B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09050" y="4933143"/>
            <a:ext cx="526624" cy="3686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Text</a:t>
            </a:r>
          </a:p>
          <a:p>
            <a:pPr algn="ctr"/>
            <a:r>
              <a:rPr sz="1161">
                <a:solidFill>
                  <a:srgbClr val="1E1E1E"/>
                </a:solidFill>
                <a:latin typeface="Helvetica"/>
              </a:rPr>
              <a:t>Encoder</a:t>
            </a:r>
          </a:p>
        </p:txBody>
      </p:sp>
      <p:sp>
        <p:nvSpPr>
          <p:cNvPr id="36" name="Oval 35"/>
          <p:cNvSpPr/>
          <p:nvPr/>
        </p:nvSpPr>
        <p:spPr>
          <a:xfrm>
            <a:off x="375633" y="4807638"/>
            <a:ext cx="1327093" cy="526624"/>
          </a:xfrm>
          <a:prstGeom prst="ellipse">
            <a:avLst/>
          </a:prstGeom>
          <a:solidFill>
            <a:srgbClr val="EBEBEB"/>
          </a:solidFill>
          <a:ln w="15798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412497" y="5209868"/>
            <a:ext cx="294909" cy="329778"/>
          </a:xfrm>
          <a:custGeom>
            <a:avLst/>
            <a:gdLst/>
            <a:ahLst/>
            <a:cxnLst/>
            <a:rect l="l" t="t" r="r" b="b"/>
            <a:pathLst>
              <a:path w="294909" h="329778">
                <a:moveTo>
                  <a:pt x="230920" y="18917"/>
                </a:moveTo>
                <a:lnTo>
                  <a:pt x="294909" y="66466"/>
                </a:lnTo>
                <a:lnTo>
                  <a:pt x="0" y="329778"/>
                </a:lnTo>
                <a:lnTo>
                  <a:pt x="121814" y="0"/>
                </a:lnTo>
              </a:path>
            </a:pathLst>
          </a:custGeom>
          <a:noFill/>
          <a:ln w="15798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3924" y="4912963"/>
            <a:ext cx="1410510" cy="3159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95">
                <a:solidFill>
                  <a:srgbClr val="1E1E1E"/>
                </a:solidFill>
                <a:latin typeface="Helvetica"/>
              </a:rPr>
              <a:t>Expressions</a:t>
            </a:r>
          </a:p>
          <a:p>
            <a:pPr algn="ctr"/>
            <a:r>
              <a:rPr sz="995">
                <a:solidFill>
                  <a:srgbClr val="1E1E1E"/>
                </a:solidFill>
                <a:latin typeface="Helvetica"/>
              </a:rPr>
              <a:t>(e.g. Cars Moving)</a:t>
            </a:r>
          </a:p>
        </p:txBody>
      </p:sp>
      <p:sp>
        <p:nvSpPr>
          <p:cNvPr id="39" name="Freeform 38"/>
          <p:cNvSpPr/>
          <p:nvPr/>
        </p:nvSpPr>
        <p:spPr>
          <a:xfrm>
            <a:off x="1519114" y="2252626"/>
            <a:ext cx="895261" cy="1353424"/>
          </a:xfrm>
          <a:custGeom>
            <a:avLst/>
            <a:gdLst/>
            <a:ahLst/>
            <a:cxnLst/>
            <a:rect l="l" t="t" r="r" b="b"/>
            <a:pathLst>
              <a:path w="895261" h="1353424">
                <a:moveTo>
                  <a:pt x="337039" y="0"/>
                </a:moveTo>
                <a:lnTo>
                  <a:pt x="0" y="0"/>
                </a:lnTo>
                <a:lnTo>
                  <a:pt x="0" y="1353424"/>
                </a:lnTo>
                <a:lnTo>
                  <a:pt x="895261" y="1353424"/>
                </a:lnTo>
              </a:path>
            </a:pathLst>
          </a:custGeom>
          <a:noFill/>
          <a:ln w="15798">
            <a:solidFill>
              <a:srgbClr val="1E1E1E"/>
            </a:solidFill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3098987" y="2252626"/>
            <a:ext cx="442364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26197" y="2252626"/>
            <a:ext cx="2043302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17188" y="2252626"/>
            <a:ext cx="294910" cy="5266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113035" y="1841859"/>
            <a:ext cx="358105" cy="131656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113035" y="2552802"/>
            <a:ext cx="358105" cy="84259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6938244" y="2520237"/>
            <a:ext cx="2459763" cy="1259933"/>
          </a:xfrm>
          <a:custGeom>
            <a:avLst/>
            <a:gdLst/>
            <a:ahLst/>
            <a:cxnLst/>
            <a:rect l="l" t="t" r="r" b="b"/>
            <a:pathLst>
              <a:path w="2459763" h="1259933">
                <a:moveTo>
                  <a:pt x="2459763" y="1259933"/>
                </a:moveTo>
                <a:lnTo>
                  <a:pt x="2459763" y="473123"/>
                </a:lnTo>
                <a:lnTo>
                  <a:pt x="0" y="473123"/>
                </a:lnTo>
                <a:lnTo>
                  <a:pt x="0" y="0"/>
                </a:lnTo>
              </a:path>
            </a:pathLst>
          </a:custGeom>
          <a:noFill/>
          <a:ln w="15798">
            <a:solidFill>
              <a:srgbClr val="1E1E1E"/>
            </a:solidFill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2822655" y="3606050"/>
            <a:ext cx="702897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10398" y="3606050"/>
            <a:ext cx="284377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69147" y="3606050"/>
            <a:ext cx="258046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10398" y="4580305"/>
            <a:ext cx="284377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69147" y="4580305"/>
            <a:ext cx="258046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16664" y="3430865"/>
            <a:ext cx="1255998" cy="1645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6">
                <a:solidFill>
                  <a:srgbClr val="1E1E1E"/>
                </a:solidFill>
                <a:latin typeface="Helvetica"/>
              </a:rPr>
              <a:t>256D Motion Vector</a:t>
            </a:r>
          </a:p>
        </p:txBody>
      </p:sp>
      <p:sp>
        <p:nvSpPr>
          <p:cNvPr id="53" name="Freeform 52"/>
          <p:cNvSpPr/>
          <p:nvPr/>
        </p:nvSpPr>
        <p:spPr>
          <a:xfrm>
            <a:off x="8375178" y="3583586"/>
            <a:ext cx="84260" cy="294909"/>
          </a:xfrm>
          <a:custGeom>
            <a:avLst/>
            <a:gdLst/>
            <a:ahLst/>
            <a:cxnLst/>
            <a:rect l="l" t="t" r="r" b="b"/>
            <a:pathLst>
              <a:path w="84260" h="294909">
                <a:moveTo>
                  <a:pt x="0" y="84260"/>
                </a:moveTo>
                <a:lnTo>
                  <a:pt x="84260" y="0"/>
                </a:lnTo>
                <a:lnTo>
                  <a:pt x="84260" y="210649"/>
                </a:lnTo>
                <a:lnTo>
                  <a:pt x="0" y="294909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reeform 53"/>
          <p:cNvSpPr/>
          <p:nvPr/>
        </p:nvSpPr>
        <p:spPr>
          <a:xfrm>
            <a:off x="7348261" y="3583586"/>
            <a:ext cx="1111177" cy="84260"/>
          </a:xfrm>
          <a:custGeom>
            <a:avLst/>
            <a:gdLst/>
            <a:ahLst/>
            <a:cxnLst/>
            <a:rect l="l" t="t" r="r" b="b"/>
            <a:pathLst>
              <a:path w="1111177" h="84260">
                <a:moveTo>
                  <a:pt x="0" y="84260"/>
                </a:moveTo>
                <a:lnTo>
                  <a:pt x="84260" y="0"/>
                </a:lnTo>
                <a:lnTo>
                  <a:pt x="1111177" y="0"/>
                </a:lnTo>
                <a:lnTo>
                  <a:pt x="1026917" y="8426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48261" y="3667846"/>
            <a:ext cx="1026917" cy="210649"/>
          </a:xfrm>
          <a:prstGeom prst="rect">
            <a:avLst/>
          </a:prstGeom>
          <a:solidFill>
            <a:srgbClr val="F5EEE0"/>
          </a:solidFill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27138" y="4178671"/>
            <a:ext cx="1346903" cy="1645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6">
                <a:solidFill>
                  <a:srgbClr val="1E1E1E"/>
                </a:solidFill>
                <a:latin typeface="Helvetica"/>
              </a:rPr>
              <a:t>256D Language Vector</a:t>
            </a:r>
          </a:p>
        </p:txBody>
      </p:sp>
      <p:sp>
        <p:nvSpPr>
          <p:cNvPr id="57" name="Freeform 56"/>
          <p:cNvSpPr/>
          <p:nvPr/>
        </p:nvSpPr>
        <p:spPr>
          <a:xfrm>
            <a:off x="8375178" y="4334523"/>
            <a:ext cx="84260" cy="294910"/>
          </a:xfrm>
          <a:custGeom>
            <a:avLst/>
            <a:gdLst/>
            <a:ahLst/>
            <a:cxnLst/>
            <a:rect l="l" t="t" r="r" b="b"/>
            <a:pathLst>
              <a:path w="84260" h="294910">
                <a:moveTo>
                  <a:pt x="0" y="84260"/>
                </a:moveTo>
                <a:lnTo>
                  <a:pt x="84260" y="0"/>
                </a:lnTo>
                <a:lnTo>
                  <a:pt x="84260" y="210650"/>
                </a:lnTo>
                <a:lnTo>
                  <a:pt x="0" y="29491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eeform 57"/>
          <p:cNvSpPr/>
          <p:nvPr/>
        </p:nvSpPr>
        <p:spPr>
          <a:xfrm>
            <a:off x="7348261" y="4334523"/>
            <a:ext cx="1111177" cy="84260"/>
          </a:xfrm>
          <a:custGeom>
            <a:avLst/>
            <a:gdLst/>
            <a:ahLst/>
            <a:cxnLst/>
            <a:rect l="l" t="t" r="r" b="b"/>
            <a:pathLst>
              <a:path w="1111177" h="84260">
                <a:moveTo>
                  <a:pt x="0" y="84260"/>
                </a:moveTo>
                <a:lnTo>
                  <a:pt x="84260" y="0"/>
                </a:lnTo>
                <a:lnTo>
                  <a:pt x="1111177" y="0"/>
                </a:lnTo>
                <a:lnTo>
                  <a:pt x="1026917" y="84260"/>
                </a:lnTo>
                <a:lnTo>
                  <a:pt x="0" y="84260"/>
                </a:lnTo>
              </a:path>
            </a:pathLst>
          </a:custGeom>
          <a:noFill/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48261" y="4418783"/>
            <a:ext cx="1026917" cy="210649"/>
          </a:xfrm>
          <a:prstGeom prst="rect">
            <a:avLst/>
          </a:prstGeom>
          <a:solidFill>
            <a:srgbClr val="F5EEE0"/>
          </a:solidFill>
          <a:ln w="10532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6990157" y="3773170"/>
            <a:ext cx="331773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990157" y="4526243"/>
            <a:ext cx="331773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8476440" y="3716392"/>
            <a:ext cx="495903" cy="270156"/>
          </a:xfrm>
          <a:custGeom>
            <a:avLst/>
            <a:gdLst/>
            <a:ahLst/>
            <a:cxnLst/>
            <a:rect l="l" t="t" r="r" b="b"/>
            <a:pathLst>
              <a:path w="495903" h="270156">
                <a:moveTo>
                  <a:pt x="0" y="8089"/>
                </a:moveTo>
                <a:lnTo>
                  <a:pt x="0" y="0"/>
                </a:lnTo>
                <a:lnTo>
                  <a:pt x="218518" y="0"/>
                </a:lnTo>
                <a:lnTo>
                  <a:pt x="218518" y="270156"/>
                </a:lnTo>
                <a:lnTo>
                  <a:pt x="495903" y="270156"/>
                </a:lnTo>
              </a:path>
            </a:pathLst>
          </a:custGeom>
          <a:noFill/>
          <a:ln w="15798">
            <a:solidFill>
              <a:srgbClr val="1E1E1E"/>
            </a:solidFill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Freeform 62"/>
          <p:cNvSpPr/>
          <p:nvPr/>
        </p:nvSpPr>
        <p:spPr>
          <a:xfrm>
            <a:off x="8476890" y="4146057"/>
            <a:ext cx="495608" cy="353149"/>
          </a:xfrm>
          <a:custGeom>
            <a:avLst/>
            <a:gdLst/>
            <a:ahLst/>
            <a:cxnLst/>
            <a:rect l="l" t="t" r="r" b="b"/>
            <a:pathLst>
              <a:path w="495608" h="353149">
                <a:moveTo>
                  <a:pt x="0" y="353149"/>
                </a:moveTo>
                <a:lnTo>
                  <a:pt x="209849" y="353149"/>
                </a:lnTo>
                <a:lnTo>
                  <a:pt x="209849" y="0"/>
                </a:lnTo>
                <a:lnTo>
                  <a:pt x="495608" y="0"/>
                </a:lnTo>
              </a:path>
            </a:pathLst>
          </a:custGeom>
          <a:noFill/>
          <a:ln w="15798">
            <a:solidFill>
              <a:srgbClr val="1E1E1E"/>
            </a:solidFill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 flipV="1">
            <a:off x="2572362" y="4627701"/>
            <a:ext cx="0" cy="221182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684493" y="5113877"/>
            <a:ext cx="540297" cy="2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690589" y="1993648"/>
            <a:ext cx="505559" cy="498271"/>
          </a:xfrm>
          <a:prstGeom prst="ellipse">
            <a:avLst/>
          </a:prstGeom>
          <a:solidFill>
            <a:srgbClr val="FFFFFF"/>
          </a:solidFill>
          <a:ln w="15798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38538" y="2031727"/>
            <a:ext cx="203358" cy="4621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911">
                <a:solidFill>
                  <a:srgbClr val="1E1E1E"/>
                </a:solidFill>
                <a:latin typeface="Arial"/>
              </a:rPr>
              <a:t>+</a:t>
            </a:r>
          </a:p>
        </p:txBody>
      </p:sp>
      <p:sp>
        <p:nvSpPr>
          <p:cNvPr id="70" name="Freeform 69"/>
          <p:cNvSpPr/>
          <p:nvPr/>
        </p:nvSpPr>
        <p:spPr>
          <a:xfrm>
            <a:off x="2647291" y="2489607"/>
            <a:ext cx="1441222" cy="932356"/>
          </a:xfrm>
          <a:custGeom>
            <a:avLst/>
            <a:gdLst/>
            <a:ahLst/>
            <a:cxnLst/>
            <a:rect l="l" t="t" r="r" b="b"/>
            <a:pathLst>
              <a:path w="1441222" h="932356">
                <a:moveTo>
                  <a:pt x="1441222" y="0"/>
                </a:moveTo>
                <a:lnTo>
                  <a:pt x="1441222" y="687380"/>
                </a:lnTo>
                <a:lnTo>
                  <a:pt x="0" y="687380"/>
                </a:lnTo>
                <a:lnTo>
                  <a:pt x="0" y="932356"/>
                </a:lnTo>
              </a:path>
            </a:pathLst>
          </a:custGeom>
          <a:noFill/>
          <a:ln w="21064">
            <a:solidFill>
              <a:srgbClr val="1E1E1E"/>
            </a:solidFill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53559" y="2609316"/>
            <a:ext cx="976749" cy="329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6">
                <a:solidFill>
                  <a:srgbClr val="1E1E1E"/>
                </a:solidFill>
                <a:latin typeface="Helvetica"/>
              </a:rPr>
              <a:t>Object Tracklets</a:t>
            </a:r>
          </a:p>
          <a:p>
            <a:pPr algn="l"/>
            <a:r>
              <a:rPr sz="1036">
                <a:solidFill>
                  <a:srgbClr val="1E1E1E"/>
                </a:solidFill>
                <a:latin typeface="Helvetica"/>
              </a:rPr>
              <a:t>(bbox + track ID)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9542" y="3675217"/>
            <a:ext cx="717165" cy="1645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6">
                <a:solidFill>
                  <a:srgbClr val="1E1E1E"/>
                </a:solidFill>
                <a:latin typeface="Helvetica"/>
              </a:rPr>
              <a:t>Object Bbox</a:t>
            </a:r>
          </a:p>
        </p:txBody>
      </p:sp>
      <p:pic>
        <p:nvPicPr>
          <p:cNvPr id="74" name="圖片 73">
            <a:extLst>
              <a:ext uri="{FF2B5EF4-FFF2-40B4-BE49-F238E27FC236}">
                <a16:creationId xmlns:a16="http://schemas.microsoft.com/office/drawing/2014/main" id="{ABE76F8E-114D-B947-4E74-4BAEC0C1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433" y="1992978"/>
            <a:ext cx="529220" cy="212384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FA661EAE-7FD9-14CF-3B89-DCD6E6E13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696" y="3306432"/>
            <a:ext cx="538297" cy="237689"/>
          </a:xfrm>
          <a:prstGeom prst="rect">
            <a:avLst/>
          </a:prstGeom>
        </p:spPr>
      </p:pic>
      <p:cxnSp>
        <p:nvCxnSpPr>
          <p:cNvPr id="77" name="Connector 49">
            <a:extLst>
              <a:ext uri="{FF2B5EF4-FFF2-40B4-BE49-F238E27FC236}">
                <a16:creationId xmlns:a16="http://schemas.microsoft.com/office/drawing/2014/main" id="{5A172D84-9D15-9428-4D71-9010B3BC344B}"/>
              </a:ext>
            </a:extLst>
          </p:cNvPr>
          <p:cNvCxnSpPr/>
          <p:nvPr/>
        </p:nvCxnSpPr>
        <p:spPr>
          <a:xfrm>
            <a:off x="3241175" y="4386770"/>
            <a:ext cx="284377" cy="0"/>
          </a:xfrm>
          <a:prstGeom prst="line">
            <a:avLst/>
          </a:prstGeom>
          <a:ln w="15798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66</Words>
  <Application>Microsoft Macintosh PowerPoint</Application>
  <PresentationFormat>寬螢幕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</vt:lpstr>
      <vt:lpstr>Nunito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朱威達</cp:lastModifiedBy>
  <cp:revision>3</cp:revision>
  <dcterms:created xsi:type="dcterms:W3CDTF">2013-01-27T09:14:16Z</dcterms:created>
  <dcterms:modified xsi:type="dcterms:W3CDTF">2026-08-29T07:34:31Z</dcterms:modified>
  <cp:category/>
</cp:coreProperties>
</file>